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c98425beac40da" /><Relationship Type="http://schemas.openxmlformats.org/officeDocument/2006/relationships/extended-properties" Target="/docProps/app.xml" Id="R30c5b576eafa461b" /><Relationship Type="http://schemas.openxmlformats.org/officeDocument/2006/relationships/officeDocument" Target="/ppt/presentation.xml" Id="R6ad4d242bee1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82278b74447ae"/>
  </p:sldMasterIdLst>
  <p:notesMasterIdLst>
    <p:notesMasterId xmlns:r="http://schemas.openxmlformats.org/officeDocument/2006/relationships" r:id="R888cba319fd14b4d"/>
  </p:notesMasterIdLst>
  <p:sldIdLst>
    <p:sldId xmlns:r="http://schemas.openxmlformats.org/officeDocument/2006/relationships" id="256" r:id="R7ff6f78ebeac4e88"/>
    <p:sldId xmlns:r="http://schemas.openxmlformats.org/officeDocument/2006/relationships" id="257" r:id="R75f7d10317c4407b"/>
    <p:sldId xmlns:r="http://schemas.openxmlformats.org/officeDocument/2006/relationships" id="258" r:id="R1ec52c0c57804ed5"/>
    <p:sldId xmlns:r="http://schemas.openxmlformats.org/officeDocument/2006/relationships" id="259" r:id="Rbd07300c53554ea7"/>
    <p:sldId xmlns:r="http://schemas.openxmlformats.org/officeDocument/2006/relationships" id="260" r:id="R64bf26f79e1a480f"/>
    <p:sldId xmlns:r="http://schemas.openxmlformats.org/officeDocument/2006/relationships" id="261" r:id="R06c7811e678045ad"/>
    <p:sldId xmlns:r="http://schemas.openxmlformats.org/officeDocument/2006/relationships" id="262" r:id="R2c4c67fe2d1f49b5"/>
    <p:sldId xmlns:r="http://schemas.openxmlformats.org/officeDocument/2006/relationships" id="263" r:id="R5e8de6a6265648c5"/>
    <p:sldId xmlns:r="http://schemas.openxmlformats.org/officeDocument/2006/relationships" id="264" r:id="R2ef07c1e13c44676"/>
    <p:sldId xmlns:r="http://schemas.openxmlformats.org/officeDocument/2006/relationships" id="265" r:id="R4e7a64c27f7e4b41"/>
    <p:sldId xmlns:r="http://schemas.openxmlformats.org/officeDocument/2006/relationships" id="266" r:id="R7039de7b9e604700"/>
    <p:sldId xmlns:r="http://schemas.openxmlformats.org/officeDocument/2006/relationships" id="267" r:id="R8e6f9326f22343cb"/>
    <p:sldId xmlns:r="http://schemas.openxmlformats.org/officeDocument/2006/relationships" id="268" r:id="Rf13c75e84d1e4a60"/>
    <p:sldId xmlns:r="http://schemas.openxmlformats.org/officeDocument/2006/relationships" id="269" r:id="R00b316fe21e848a1"/>
    <p:sldId xmlns:r="http://schemas.openxmlformats.org/officeDocument/2006/relationships" id="270" r:id="Re6eb0579e50e48c6"/>
    <p:sldId xmlns:r="http://schemas.openxmlformats.org/officeDocument/2006/relationships" id="271" r:id="Ra26220b72a3043c0"/>
    <p:sldId xmlns:r="http://schemas.openxmlformats.org/officeDocument/2006/relationships" id="272" r:id="R73159759d65c41e7"/>
    <p:sldId xmlns:r="http://schemas.openxmlformats.org/officeDocument/2006/relationships" id="273" r:id="R130186ac472d4a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27f946653f49fd" /><Relationship Type="http://schemas.openxmlformats.org/officeDocument/2006/relationships/slideMaster" Target="/ppt/slideMasters/slideMaster1.xml" Id="Rd4882278b74447ae" /><Relationship Type="http://schemas.openxmlformats.org/officeDocument/2006/relationships/notesMaster" Target="/ppt/notesMasters/notesMaster1.xml" Id="R888cba319fd14b4d" /><Relationship Type="http://schemas.openxmlformats.org/officeDocument/2006/relationships/presProps" Target="/ppt/presProps.xml" Id="R0c6478b83a974629" /><Relationship Type="http://schemas.openxmlformats.org/officeDocument/2006/relationships/tableStyles" Target="/ppt/tableStyles.xml" Id="R5b1235d7db5b4cbd" /><Relationship Type="http://schemas.openxmlformats.org/officeDocument/2006/relationships/slide" Target="/ppt/slides/slide1.xml" Id="R7ff6f78ebeac4e88" /><Relationship Type="http://schemas.openxmlformats.org/officeDocument/2006/relationships/slide" Target="/ppt/slides/slide2.xml" Id="R75f7d10317c4407b" /><Relationship Type="http://schemas.openxmlformats.org/officeDocument/2006/relationships/slide" Target="/ppt/slides/slide3.xml" Id="R1ec52c0c57804ed5" /><Relationship Type="http://schemas.openxmlformats.org/officeDocument/2006/relationships/slide" Target="/ppt/slides/slide4.xml" Id="Rbd07300c53554ea7" /><Relationship Type="http://schemas.openxmlformats.org/officeDocument/2006/relationships/slide" Target="/ppt/slides/slide5.xml" Id="R64bf26f79e1a480f" /><Relationship Type="http://schemas.openxmlformats.org/officeDocument/2006/relationships/slide" Target="/ppt/slides/slide6.xml" Id="R06c7811e678045ad" /><Relationship Type="http://schemas.openxmlformats.org/officeDocument/2006/relationships/slide" Target="/ppt/slides/slide7.xml" Id="R2c4c67fe2d1f49b5" /><Relationship Type="http://schemas.openxmlformats.org/officeDocument/2006/relationships/slide" Target="/ppt/slides/slide8.xml" Id="R5e8de6a6265648c5" /><Relationship Type="http://schemas.openxmlformats.org/officeDocument/2006/relationships/slide" Target="/ppt/slides/slide9.xml" Id="R2ef07c1e13c44676" /><Relationship Type="http://schemas.openxmlformats.org/officeDocument/2006/relationships/slide" Target="/ppt/slides/slide10.xml" Id="R4e7a64c27f7e4b41" /><Relationship Type="http://schemas.openxmlformats.org/officeDocument/2006/relationships/slide" Target="/ppt/slides/slide11.xml" Id="R7039de7b9e604700" /><Relationship Type="http://schemas.openxmlformats.org/officeDocument/2006/relationships/slide" Target="/ppt/slides/slide12.xml" Id="R8e6f9326f22343cb" /><Relationship Type="http://schemas.openxmlformats.org/officeDocument/2006/relationships/slide" Target="/ppt/slides/slide13.xml" Id="Rf13c75e84d1e4a60" /><Relationship Type="http://schemas.openxmlformats.org/officeDocument/2006/relationships/slide" Target="/ppt/slides/slide14.xml" Id="R00b316fe21e848a1" /><Relationship Type="http://schemas.openxmlformats.org/officeDocument/2006/relationships/slide" Target="/ppt/slides/slide15.xml" Id="Re6eb0579e50e48c6" /><Relationship Type="http://schemas.openxmlformats.org/officeDocument/2006/relationships/slide" Target="/ppt/slides/slide16.xml" Id="Ra26220b72a3043c0" /><Relationship Type="http://schemas.openxmlformats.org/officeDocument/2006/relationships/slide" Target="/ppt/slides/slide17.xml" Id="R73159759d65c41e7" /><Relationship Type="http://schemas.openxmlformats.org/officeDocument/2006/relationships/slide" Target="/ppt/slides/slide18.xml" Id="R130186ac472d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248d797e5546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402aa58f81497d" /><Relationship Type="http://schemas.openxmlformats.org/officeDocument/2006/relationships/notesMaster" Target="/ppt/notesMasters/notesMaster1.xml" Id="R091ac0146f5e4d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882ac36c7d40eb" /><Relationship Type="http://schemas.openxmlformats.org/officeDocument/2006/relationships/notesMaster" Target="/ppt/notesMasters/notesMaster1.xml" Id="Rbab342b1b5b74d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5fdb3017a419f" /><Relationship Type="http://schemas.openxmlformats.org/officeDocument/2006/relationships/notesMaster" Target="/ppt/notesMasters/notesMaster1.xml" Id="R69038419c4024e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b1b9594232483e" /><Relationship Type="http://schemas.openxmlformats.org/officeDocument/2006/relationships/notesMaster" Target="/ppt/notesMasters/notesMaster1.xml" Id="Rafa4b67c7fd7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a3a02521742ce" /><Relationship Type="http://schemas.openxmlformats.org/officeDocument/2006/relationships/notesMaster" Target="/ppt/notesMasters/notesMaster1.xml" Id="R120a8aa8d2294b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87196d526d4a9b" /><Relationship Type="http://schemas.openxmlformats.org/officeDocument/2006/relationships/notesMaster" Target="/ppt/notesMasters/notesMaster1.xml" Id="R4e9a5d35469a4f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be042164254c31" /><Relationship Type="http://schemas.openxmlformats.org/officeDocument/2006/relationships/notesMaster" Target="/ppt/notesMasters/notesMaster1.xml" Id="R372454247e8d49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0852bac3e547e3" /><Relationship Type="http://schemas.openxmlformats.org/officeDocument/2006/relationships/notesMaster" Target="/ppt/notesMasters/notesMaster1.xml" Id="R16967f9bb16948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2bb62f99d54b41" /><Relationship Type="http://schemas.openxmlformats.org/officeDocument/2006/relationships/notesMaster" Target="/ppt/notesMasters/notesMaster1.xml" Id="R7cfb2054d91f4e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47546e05e9485c" /><Relationship Type="http://schemas.openxmlformats.org/officeDocument/2006/relationships/notesMaster" Target="/ppt/notesMasters/notesMaster1.xml" Id="Rc69c36e0662947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bc71dc6a074b83" /><Relationship Type="http://schemas.openxmlformats.org/officeDocument/2006/relationships/notesMaster" Target="/ppt/notesMasters/notesMaster1.xml" Id="Re7c15583052947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56dcbdf5a042d2" /><Relationship Type="http://schemas.openxmlformats.org/officeDocument/2006/relationships/notesMaster" Target="/ppt/notesMasters/notesMaster1.xml" Id="R86125d07a5744b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08ba9127354988" /><Relationship Type="http://schemas.openxmlformats.org/officeDocument/2006/relationships/notesMaster" Target="/ppt/notesMasters/notesMaster1.xml" Id="Rd531b85ed0234e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b5482d50514ed4" /><Relationship Type="http://schemas.openxmlformats.org/officeDocument/2006/relationships/notesMaster" Target="/ppt/notesMasters/notesMaster1.xml" Id="R2dbbc905895945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434d81e7c3437c" /><Relationship Type="http://schemas.openxmlformats.org/officeDocument/2006/relationships/notesMaster" Target="/ppt/notesMasters/notesMaster1.xml" Id="Ree059cce5d8e4e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687a7c7a194ce6" /><Relationship Type="http://schemas.openxmlformats.org/officeDocument/2006/relationships/notesMaster" Target="/ppt/notesMasters/notesMaster1.xml" Id="R43fa25379c0a45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32504d88e34c37" /><Relationship Type="http://schemas.openxmlformats.org/officeDocument/2006/relationships/notesMaster" Target="/ppt/notesMasters/notesMaster1.xml" Id="R90e7eb259cb741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a1613bb09645c4" /><Relationship Type="http://schemas.openxmlformats.org/officeDocument/2006/relationships/notesMaster" Target="/ppt/notesMasters/notesMaster1.xml" Id="R26b24cafcbd44a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居民就医前需要知道下一步怎么做。常医智导以独立安全门组织整个服务过程，让主诉连接到有依据的方向，再连接到本地就医资源。作品的核心价值可以概括为三个词：安全优先、方向可解释、路径可继续。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docs/competition/2026-ai-medical/COMPETITION_BRIEF.md</a:t>
            </a:r>
          </a:p>
          <a:p xmlns:a="http://schemas.openxmlformats.org/drawingml/2006/main">
            <a:r>
              <a:t>• docs/competition/2026-ai-medical/PRODUCT_SPEC.md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症状描述、风险判断、科室选择和医院查询之间，需要一条贯通的行动路径。常医智导用独立安全门确定优先级，再组织方向、资源和到院入口。在142个固定工程样例中，84个红旗样例全部检出，急症漏报为0；常州目录连接21条医院记录和2100条医生资料。这些结果分别验证安全分支和城市资源衔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evaluation/safety/safety_cases.json</a:t>
            </a:r>
          </a:p>
          <a:p xmlns:a="http://schemas.openxmlformats.org/drawingml/2006/main">
            <a:r>
              <a:t>• data/regions/320400/hospitals/catalog.json</a:t>
            </a:r>
          </a:p>
          <a:p xmlns:a="http://schemas.openxmlformats.org/drawingml/2006/main">
            <a:r>
              <a:t>• 2026-10-22 应用资源加载记录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用户从描述不适开始。系统先组织风险信号和信息充分度，再展示当前理解与科室方向，继续连接常州资源。这样，科室参考、医院目录与到院入口围绕同一主诉展开。截图来自2026年10月22日当前网站。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docs/competition/2026-ai-medical/PRODUCT_SPEC.md</a:t>
            </a:r>
          </a:p>
          <a:p xmlns:a="http://schemas.openxmlformats.org/drawingml/2006/main">
            <a:r>
              <a:t>• frontend/src/pages/HomePage.tsx</a:t>
            </a:r>
          </a:p>
          <a:p xmlns:a="http://schemas.openxmlformats.org/drawingml/2006/main">
            <a:r>
              <a:t>• 2026-10-22 网站首页截图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安全门将优先级落实为四类发布状态。EMERGENCY进入急症出口，URGENT对应及时评估，ROUTINE连接普通资源路径，INSUFFICIENT_INFORMATION先补充医学信息。其优势在于状态直接决定系统行为，安全判断与资源推荐具有明确的控制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backend/app/domain/triage/safety_gate.py</a:t>
            </a:r>
          </a:p>
          <a:p xmlns:a="http://schemas.openxmlformats.org/drawingml/2006/main">
            <a:r>
              <a:t>• backend/app/domain/triage/publication.py</a:t>
            </a:r>
          </a:p>
          <a:p xmlns:a="http://schemas.openxmlformats.org/drawingml/2006/main">
            <a:r>
              <a:t>• docs/competition/2026-ai-medical/PRODUCT_SPEC.md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合成主诉在当前网站返回EMERGENCY。普通疾病和科室候选被发布规则清空，页面优先呈现急症行动入口。优势来自结构性控制：风险信号可以改变整条路径的输出方式，普通推荐偏好服从安全状态。界面中的急诊资源来自目录，实时接诊以医疗机构和急救服务确认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2026-10-22 网站合成主诉实测</a:t>
            </a:r>
          </a:p>
          <a:p xmlns:a="http://schemas.openxmlformats.org/drawingml/2006/main">
            <a:r>
              <a:t>• tests/test_competition_golden_e2e.py</a:t>
            </a:r>
          </a:p>
          <a:p xmlns:a="http://schemas.openxmlformats.org/drawingml/2006/main">
            <a:r>
              <a:t>• backend/app/domain/triage/publication.py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该合成输入提供了人口语境，系统将其转换成补充主诉的下一步。当前返回INSUFFICIENT_INFORMATION，科室和疾病候选暂缓发布。这个设计让输出强度与证据相匹配，用户能够沿追问入口继续完善信息。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2026-10-22 网站合成主诉实测</a:t>
            </a:r>
          </a:p>
          <a:p xmlns:a="http://schemas.openxmlformats.org/drawingml/2006/main">
            <a:r>
              <a:t>• frontend/e2e/demographic-only-input.spec.mjs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路径的价值是把就医方向接到资源。该合成主诉返回ROUTINE和皮肤科参考方向，用户可以补充严重程度，或继续查看资源路径。科室方向与疾病候选分别受发布规则控制；本例疾病模型按no_supported_symptoms执行拒答，页面依照对应方向继续提供资源查询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2026-10-22 网站合成主诉实测</a:t>
            </a:r>
          </a:p>
          <a:p xmlns:a="http://schemas.openxmlformats.org/drawingml/2006/main">
            <a:r>
              <a:t>• frontend/e2e/product-smoke.spec.mjs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州城市目录为方向查询提供具体落点：21条医院记录，2100条医生资料，医生资料涉及11家医院和194个科室条目。医院资源继续连接地图位置和导航入口。数量代表目录记录，合作关系与实时接诊另按机构信息确认。医院目录状态为provisional，来源和许可随数据记录管理；交通样本为展示用途，rankable=Fal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data/regions/320400/hospitals/catalog.json</a:t>
            </a:r>
          </a:p>
          <a:p xmlns:a="http://schemas.openxmlformats.org/drawingml/2006/main">
            <a:r>
              <a:t>• 2026-10-22 应用资源加载记录</a:t>
            </a:r>
          </a:p>
          <a:p xmlns:a="http://schemas.openxmlformats.org/drawingml/2006/main">
            <a:r>
              <a:t>• frontend/src/pages/MapPage.tsx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围绕行动展开。当前理解展示系统已经获得的信息；科室方向配合依据帮助用户理解参考方向；行动入口让用户继续补充信息、查询资源或查看地图。解释与操作保持相邻，因此用户可以依据当前信息继续完成就医查询。医疗判断以专业人员评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frontend/src/components/medical/TriageResults.tsx</a:t>
            </a:r>
          </a:p>
          <a:p xmlns:a="http://schemas.openxmlformats.org/drawingml/2006/main">
            <a:r>
              <a:t>• docs/competition/2026-ai-medical/PRODUCT_SPEC.md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优先级在后端统一执行，并传递给资源服务。急症分支使用emergency_fast_track策略，专家偏好退出普通排序；普通路径可以组织科室匹配、距离和资源偏好。医院重排对急症分支保留其安全优先关系。优势在于同一状态贯穿多个服务环节，安全控制具有端到端的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backend/app/domain/recommendation/resource_policy.py</a:t>
            </a:r>
          </a:p>
          <a:p xmlns:a="http://schemas.openxmlformats.org/drawingml/2006/main">
            <a:r>
              <a:t>• backend/app/domain/recommendation/pipeline.py</a:t>
            </a:r>
          </a:p>
          <a:p xmlns:a="http://schemas.openxmlformats.org/drawingml/2006/main">
            <a:r>
              <a:t>• tests/test_competition_golden_e2e.py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Safety集包含142个工程样例，其中84个急症、29个及时评估、22个普通路径、7个信息不足。结果为红旗召回1.0、急症漏报0、Under-triage0、Over-triage0，信息不足7/7匹配。最直接的结果是：在这组固定情境中，风险优先级与发布分支保持一致。数据口径是固定工程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evaluation/safety/safety_cases.json</a:t>
            </a:r>
          </a:p>
          <a:p xmlns:a="http://schemas.openxmlformats.org/drawingml/2006/main">
            <a:r>
              <a:t>• evaluation/safety/evaluate_safety.py</a:t>
            </a:r>
          </a:p>
          <a:p xmlns:a="http://schemas.openxmlformats.org/drawingml/2006/main">
            <a:r>
              <a:t>• 2026-10-22 当前源码 Safety 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合成案例共同展示了路径完整性：危险信号改变页面动作，人口语境转入补充主诉，普通主诉连接方向和本地资源。API契约还覆盖追问补充、急症资源策略，以及模型冲突时的安全优先发布。三条路径的共同评价对象，是系统能否按风险选择正确分支并保持后续衔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2026-10-22 网站三类合成案例</a:t>
            </a:r>
          </a:p>
          <a:p xmlns:a="http://schemas.openxmlformats.org/drawingml/2006/main">
            <a:r>
              <a:t>• tests/test_competition_golden_e2e.py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城市资源通过Region Pack和仓库装载，安全逻辑属于统一服务层。该结构让城市资料与医疗辅助控制分工清楚，为其他城市数据接入提供结构基础。当前服务区域是常州320400。React界面和Flask服务通过统一API协作，CPU环境可运行，核心体验无需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docs/architecture/current-state.md</a:t>
            </a:r>
          </a:p>
          <a:p xmlns:a="http://schemas.openxmlformats.org/drawingml/2006/main">
            <a:r>
              <a:t>• data/regions/320400/manifest.json</a:t>
            </a:r>
          </a:p>
          <a:p xmlns:a="http://schemas.openxmlformats.org/drawingml/2006/main">
            <a:r>
              <a:t>• docs/competition/2026-ai-medical/PRODUCT_SPEC.md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的应用方向包括居民自助查询、社区服务导诊与城市资源服务入口。场景拓展以专业审核流程和经核验的目录为基础，任务评价关注风险分支一致性、方向理解和资源路径完成情况。三种方向均为应用规划，当前演示载体为常州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docs/competition/2026-ai-medical/COMPETITION_BRIEF.md</a:t>
            </a:r>
          </a:p>
          <a:p xmlns:a="http://schemas.openxmlformats.org/drawingml/2006/main">
            <a:r>
              <a:t>• docs/competition/2026-ai-medical/DEMAND_RESEARCH_PLAN.md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医智导的价值集中在三个方面：安全优先，让风险控制结果发布；方向可解释，让依据支持用户理解；路径可继续，让城市资源承接下一步行动。固定样例中84个红旗全部检出，急症漏报0，常州21条医院目录和2100条医生资料连接成可操作的服务载体。先识别风险，再连接就医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evaluation/safety/safety_cases.json</a:t>
            </a:r>
          </a:p>
          <a:p xmlns:a="http://schemas.openxmlformats.org/drawingml/2006/main">
            <a:r>
              <a:t>• data/regions/320400/hospitals/catalog.json</a:t>
            </a:r>
          </a:p>
          <a:p xmlns:a="http://schemas.openxmlformats.org/drawingml/2006/main">
            <a:r>
              <a:t>• 2026-10-22 应用资源加载记录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类研究直接以科室为目标。标准嵌套选择主流程的五seed均值为Acc0.9425326684、Macro-F10.9465166565、ECE0.0320817423；Acc标准差0.0199702059。数据为1289行公开混合文本，采用近重复分组外层评测、训练内选择和校准集参数拟合。该页对应离线公开文本科室分类，研究模型保持RESEARCH_ONLY，与产品规则分诊分别管理。来源迁移和症状-only等评测采用各自输入域与标签协议，完整结果见研究报告及summary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evaluation/core_exploration/results/summary.json</a:t>
            </a:r>
          </a:p>
          <a:p xmlns:a="http://schemas.openxmlformats.org/drawingml/2006/main">
            <a:r>
              <a:t>• docs/algorithm/CORE_EXPLORATION_REPORT.md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层划分让训练、校准和测试承担不同职责。seed42在1289行数据上采用840/236/213划分，按Jaccard0.8进行同标签近重复组件分组，测试包含25个病种。训练内选择表示和分类器，校准集拟合参数与阈值，测试集记录结果。seeds为42、123、2026、3407、7777；其他seed的测试量随分组变化，约213至241行。该划分说明评测职责与数据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evaluation/care_routing/results/round4_report.json</a:t>
            </a:r>
          </a:p>
          <a:p xmlns:a="http://schemas.openxmlformats.org/drawingml/2006/main">
            <a:r>
              <a:t>• evaluation/core_exploration/results/summary.json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按评价对象组织：固定Safety样例验证工程分支，合成情境与API契约验证服务路径，公开文本研究评价科室分类，城市目录记录资源范围。临床诊断与真实接诊效果属于另行设计的临床评价对象。地图底图署名OpenStreetMap contributors。研究语料来源及许可采用round4_report.json dataset.provenance中的存档记录。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• evaluation/safety/safety_cases.json</a:t>
            </a:r>
          </a:p>
          <a:p xmlns:a="http://schemas.openxmlformats.org/drawingml/2006/main">
            <a:r>
              <a:t>• evaluation/safety/evaluate_safety.py</a:t>
            </a:r>
          </a:p>
          <a:p xmlns:a="http://schemas.openxmlformats.org/drawingml/2006/main">
            <a:r>
              <a:t>• tests/test_competition_golden_e2e.py</a:t>
            </a:r>
          </a:p>
          <a:p xmlns:a="http://schemas.openxmlformats.org/drawingml/2006/main">
            <a:r>
              <a:t>• evaluation/core_exploration/results/summary.json</a:t>
            </a:r>
          </a:p>
          <a:p xmlns:a="http://schemas.openxmlformats.org/drawingml/2006/main">
            <a:r>
              <a:t>• evaluation/care_routing/results/round4_report.json</a:t>
            </a:r>
          </a:p>
          <a:p xmlns:a="http://schemas.openxmlformats.org/drawingml/2006/main">
            <a:r>
              <a:t>• data/regions/320400/hospitals/catalog.json</a:t>
            </a:r>
          </a:p>
          <a:p xmlns:a="http://schemas.openxmlformats.org/drawingml/2006/main">
            <a:r>
              <a:t>• 参赛资料/official-rules.pdf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67f88812a49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6f8ddd1ca40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c8543608246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31437a0e24d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89d0303264d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8e4feeeb449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6B6655-73FD-4186-AD8A-BD0761FF0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BDEC78-3164-4E39-9A97-7885143455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CC65FB-F605-4FE4-8506-88A91AA482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512872-5C56-443A-A074-720155931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B16625-0B16-4D50-A96C-2A996B2A3F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8D97B8-1604-4FE3-A749-A25DFA0707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9E2713-D553-4E43-97B3-FFE3DAC1B4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051749-D066-49F8-A75D-51ED59523B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BA52E9-826B-4AD6-AFC6-3219EC03B2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CB201-CBD4-49EC-BEFB-2A557B46AD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6e22903b054c9b" /><Relationship Type="http://schemas.openxmlformats.org/officeDocument/2006/relationships/slideLayout" Target="/ppt/slideLayouts/slideLayout1.xml" Id="Rfabbbcabc994455b" /><Relationship Type="http://schemas.openxmlformats.org/officeDocument/2006/relationships/slideLayout" Target="/ppt/slideLayouts/slideLayout2.xml" Id="R5797b3aea00c4035" /><Relationship Type="http://schemas.openxmlformats.org/officeDocument/2006/relationships/slideLayout" Target="/ppt/slideLayouts/slideLayout3.xml" Id="R5e32dbc88e55477b" /><Relationship Type="http://schemas.openxmlformats.org/officeDocument/2006/relationships/slideLayout" Target="/ppt/slideLayouts/slideLayout4.xml" Id="R2f537b2fd9a4422b" /><Relationship Type="http://schemas.openxmlformats.org/officeDocument/2006/relationships/slideLayout" Target="/ppt/slideLayouts/slideLayout5.xml" Id="R0d2dca1d83024924" /><Relationship Type="http://schemas.openxmlformats.org/officeDocument/2006/relationships/slideLayout" Target="/ppt/slideLayouts/slideLayout6.xml" Id="R0f90265e3f0547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bbbcabc994455b"/>
    <p:sldLayoutId xmlns:r="http://schemas.openxmlformats.org/officeDocument/2006/relationships" id="2147483650" r:id="R5797b3aea00c4035"/>
    <p:sldLayoutId xmlns:r="http://schemas.openxmlformats.org/officeDocument/2006/relationships" id="2147483651" r:id="R5e32dbc88e55477b"/>
    <p:sldLayoutId xmlns:r="http://schemas.openxmlformats.org/officeDocument/2006/relationships" id="2147483652" r:id="R2f537b2fd9a4422b"/>
    <p:sldLayoutId xmlns:r="http://schemas.openxmlformats.org/officeDocument/2006/relationships" id="2147483653" r:id="R0d2dca1d83024924"/>
    <p:sldLayoutId xmlns:r="http://schemas.openxmlformats.org/officeDocument/2006/relationships" id="2147483654" r:id="R0f90265e3f0547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22a674a754a85" /><Relationship Type="http://schemas.openxmlformats.org/officeDocument/2006/relationships/notesSlide" Target="/ppt/notesSlides/notesSlide1.xml" Id="R86145ac0870142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68eb68cd948f1" /><Relationship Type="http://schemas.openxmlformats.org/officeDocument/2006/relationships/notesSlide" Target="/ppt/notesSlides/notesSlide2.xml" Id="R6350d98426ce44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f9a2703a64696" /><Relationship Type="http://schemas.openxmlformats.org/officeDocument/2006/relationships/image" Target="/ppt/media/image.png" Id="Ra205c43b6ea1416e" /><Relationship Type="http://schemas.openxmlformats.org/officeDocument/2006/relationships/notesSlide" Target="/ppt/notesSlides/notesSlide3.xml" Id="R1403fb9e38114c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d10e699a7c4729" /><Relationship Type="http://schemas.openxmlformats.org/officeDocument/2006/relationships/notesSlide" Target="/ppt/notesSlides/notesSlide4.xml" Id="R467c1edd856b4d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ea5b177e04618" /><Relationship Type="http://schemas.openxmlformats.org/officeDocument/2006/relationships/image" Target="/ppt/media/image2.png" Id="Rd7acb224b074497b" /><Relationship Type="http://schemas.openxmlformats.org/officeDocument/2006/relationships/notesSlide" Target="/ppt/notesSlides/notesSlide5.xml" Id="R4534601caa5c4f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8026f0769148e5" /><Relationship Type="http://schemas.openxmlformats.org/officeDocument/2006/relationships/image" Target="/ppt/media/image3.png" Id="Re7bf1418c798454a" /><Relationship Type="http://schemas.openxmlformats.org/officeDocument/2006/relationships/notesSlide" Target="/ppt/notesSlides/notesSlide6.xml" Id="R97e3d970d80d47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db87529884946" /><Relationship Type="http://schemas.openxmlformats.org/officeDocument/2006/relationships/image" Target="/ppt/media/image4.png" Id="R3007d1fca78e4110" /><Relationship Type="http://schemas.openxmlformats.org/officeDocument/2006/relationships/notesSlide" Target="/ppt/notesSlides/notesSlide7.xml" Id="Re89308032a3341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7e10a7dbbc455e" /><Relationship Type="http://schemas.openxmlformats.org/officeDocument/2006/relationships/image" Target="/ppt/media/image5.png" Id="Rc0e246cdff4949b2" /><Relationship Type="http://schemas.openxmlformats.org/officeDocument/2006/relationships/notesSlide" Target="/ppt/notesSlides/notesSlide8.xml" Id="R973bc7c1007848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37aaec10b4950" /><Relationship Type="http://schemas.openxmlformats.org/officeDocument/2006/relationships/notesSlide" Target="/ppt/notesSlides/notesSlide9.xml" Id="R672fe02d20ca41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fbf3a471f4e6c" /><Relationship Type="http://schemas.openxmlformats.org/officeDocument/2006/relationships/notesSlide" Target="/ppt/notesSlides/notesSlide10.xml" Id="Race051f71ffa4b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febb548104ffe" /><Relationship Type="http://schemas.openxmlformats.org/officeDocument/2006/relationships/chart" Target="/ppt/slides/charts/chart1.xml" Id="R4f59d6698c8e4a47" /><Relationship Type="http://schemas.openxmlformats.org/officeDocument/2006/relationships/notesSlide" Target="/ppt/notesSlides/notesSlide11.xml" Id="R1bf56743127545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bca30abe146aa" /><Relationship Type="http://schemas.openxmlformats.org/officeDocument/2006/relationships/notesSlide" Target="/ppt/notesSlides/notesSlide12.xml" Id="Rfe95223340544f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e1d61b7284f59" /><Relationship Type="http://schemas.openxmlformats.org/officeDocument/2006/relationships/notesSlide" Target="/ppt/notesSlides/notesSlide13.xml" Id="Rc2ecfd30577f4a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a55d6cbeb437c" /><Relationship Type="http://schemas.openxmlformats.org/officeDocument/2006/relationships/notesSlide" Target="/ppt/notesSlides/notesSlide14.xml" Id="Rc66399e4d2804e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6ac645f6b4965" /><Relationship Type="http://schemas.openxmlformats.org/officeDocument/2006/relationships/notesSlide" Target="/ppt/notesSlides/notesSlide15.xml" Id="R9423bfd3e41940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77e9aae7c42a3" /><Relationship Type="http://schemas.openxmlformats.org/officeDocument/2006/relationships/notesSlide" Target="/ppt/notesSlides/notesSlide16.xml" Id="R9bfd669d334748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5a2a608db4fcc" /><Relationship Type="http://schemas.openxmlformats.org/officeDocument/2006/relationships/chart" Target="/ppt/slides/charts/chart2.xml" Id="R57a79b3930ca4703" /><Relationship Type="http://schemas.openxmlformats.org/officeDocument/2006/relationships/notesSlide" Target="/ppt/notesSlides/notesSlide17.xml" Id="R497b7b5a6fcb4a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72a2258b794b2f" /><Relationship Type="http://schemas.openxmlformats.org/officeDocument/2006/relationships/notesSlide" Target="/ppt/notesSlides/notesSlide18.xml" Id="Rae99f0aec48f44a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固定样例数</c:v>
          </c:tx>
          <c:spPr>
            <a:solidFill xmlns:a="http://schemas.openxmlformats.org/drawingml/2006/main">
              <a:srgbClr val="007F7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急症</c:v>
                </c:pt>
                <c:pt idx="1">
                  <c:v>及时评估</c:v>
                </c:pt>
                <c:pt idx="2">
                  <c:v>普通路径</c:v>
                </c:pt>
                <c:pt idx="3">
                  <c:v>信息不足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84</c:v>
                </c:pt>
                <c:pt idx="1">
                  <c:v>29</c:v>
                </c:pt>
                <c:pt idx="2">
                  <c:v>22</c:v>
                </c:pt>
                <c:pt idx="3">
                  <c:v>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02D3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4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样本行数</c:v>
          </c:tx>
          <c:spPr>
            <a:solidFill xmlns:a="http://schemas.openxmlformats.org/drawingml/2006/main">
              <a:srgbClr val="007F7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训练</c:v>
                </c:pt>
                <c:pt idx="1">
                  <c:v>校准</c:v>
                </c:pt>
                <c:pt idx="2">
                  <c:v>测试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840</c:v>
                </c:pt>
                <c:pt idx="1">
                  <c:v>236</c:v>
                </c:pt>
                <c:pt idx="2">
                  <c:v>213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02D3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6E4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2026 AIC · AI+医学">
            <a:extLst xmlns:a="http://schemas.openxmlformats.org/drawingml/2006/main">
              <a:ext uri="{FF2B5EF4-FFF2-40B4-BE49-F238E27FC236}">
                <a16:creationId xmlns:a16="http://schemas.microsoft.com/office/drawing/2014/main" id="{465FF81F-545C-463B-99A5-55D7233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rPr>
              <a:t>2026 AIC · AI+医学</a:t>
            </a:r>
          </a:p>
        </p:txBody>
      </p:sp>
      <p:sp>
        <p:nvSpPr>
          <p:cNvPr id="2" name="常医智导">
            <a:extLst xmlns:a="http://schemas.openxmlformats.org/drawingml/2006/main">
              <a:ext uri="{FF2B5EF4-FFF2-40B4-BE49-F238E27FC236}">
                <a16:creationId xmlns:a16="http://schemas.microsoft.com/office/drawing/2014/main" id="{1C8FBDF4-4B5E-4167-B295-5CD2229D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常医智导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6735765B-22DE-4977-AB44-3A7387AA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8A199BCA-D1C0-4746-88C0-DF98C621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先识别风险，再连接就医行动">
            <a:extLst xmlns:a="http://schemas.openxmlformats.org/drawingml/2006/main">
              <a:ext uri="{FF2B5EF4-FFF2-40B4-BE49-F238E27FC236}">
                <a16:creationId xmlns:a16="http://schemas.microsoft.com/office/drawing/2014/main" id="{9D1594C0-ADDA-474F-906A-CC91471A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rPr>
              <a:t>先识别风险，再连接就医行动</a:t>
            </a:r>
          </a:p>
        </p:txBody>
      </p:sp>
      <p:sp>
        <p:nvSpPr>
          <p:cNvPr id="6" name="安全优先  /  方向可解释  /  路径可继续">
            <a:extLst xmlns:a="http://schemas.openxmlformats.org/drawingml/2006/main">
              <a:ext uri="{FF2B5EF4-FFF2-40B4-BE49-F238E27FC236}">
                <a16:creationId xmlns:a16="http://schemas.microsoft.com/office/drawing/2014/main" id="{71FA8569-7737-4100-B3FE-60B6B524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rPr>
              <a:t>安全优先  /  方向可解释  /  路径可继续</a:t>
            </a:r>
          </a:p>
        </p:txBody>
      </p:sp>
      <p:sp>
        <p:nvSpPr>
          <p:cNvPr id="7" name="城市就医路径辅助系统 · 常州">
            <a:extLst xmlns:a="http://schemas.openxmlformats.org/drawingml/2006/main">
              <a:ext uri="{FF2B5EF4-FFF2-40B4-BE49-F238E27FC236}">
                <a16:creationId xmlns:a16="http://schemas.microsoft.com/office/drawing/2014/main" id="{E241166D-EEBB-4C0E-ABB7-D020CC2F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rPr>
              <a:t>城市就医路径辅助系统 · 常州</a:t>
            </a:r>
          </a:p>
        </p:txBody>
      </p:sp>
    </p:spTree>
    <p:extLst>
      <p:ext uri="{BB962C8B-B14F-4D97-AF65-F5344CB8AC3E}">
        <p14:creationId xmlns:p14="http://schemas.microsoft.com/office/powerpoint/2010/main" val="1058870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A0E10FDF-4A08-4488-92A9-E227E2A6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把风险判断接到就医行动">
            <a:extLst xmlns:a="http://schemas.openxmlformats.org/drawingml/2006/main">
              <a:ext uri="{FF2B5EF4-FFF2-40B4-BE49-F238E27FC236}">
                <a16:creationId xmlns:a16="http://schemas.microsoft.com/office/drawing/2014/main" id="{31B3DA1E-3139-4252-8DBE-36FCE9D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把风险判断接到就医行动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CE91740C-7693-4441-B074-CBDA0ED8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B95278F6-E2BE-40F0-BA68-6F870096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CE1CDF9-9526-4F1D-BB78-A7EC3D53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问题：下一步怎么做？">
            <a:extLst xmlns:a="http://schemas.openxmlformats.org/drawingml/2006/main">
              <a:ext uri="{FF2B5EF4-FFF2-40B4-BE49-F238E27FC236}">
                <a16:creationId xmlns:a16="http://schemas.microsoft.com/office/drawing/2014/main" id="{EFE6FF51-45FD-4B01-92C3-E09A9AAB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240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问题：下一步怎么做？</a:t>
            </a:r>
          </a:p>
        </p:txBody>
      </p:sp>
      <p:sp>
        <p:nvSpPr>
          <p:cNvPr id="7" name="居民从生活语言出发，需要得到就医行动方向">
            <a:extLst xmlns:a="http://schemas.openxmlformats.org/drawingml/2006/main">
              <a:ext uri="{FF2B5EF4-FFF2-40B4-BE49-F238E27FC236}">
                <a16:creationId xmlns:a16="http://schemas.microsoft.com/office/drawing/2014/main" id="{3396BACC-713D-4DA5-B233-B811E335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居民从生活语言出发，需要得到就医行动方向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E8D9CEDE-6454-4467-A1EA-4A4CE5B5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缺口：信息之间缺少连接">
            <a:extLst xmlns:a="http://schemas.openxmlformats.org/drawingml/2006/main">
              <a:ext uri="{FF2B5EF4-FFF2-40B4-BE49-F238E27FC236}">
                <a16:creationId xmlns:a16="http://schemas.microsoft.com/office/drawing/2014/main" id="{4ED2DC1F-3D44-4162-8916-04F895E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缺口：信息之间缺少连接</a:t>
            </a:r>
          </a:p>
        </p:txBody>
      </p:sp>
      <p:sp>
        <p:nvSpPr>
          <p:cNvPr id="10" name="主诉、科室、医院和地图需要共享当前状态">
            <a:extLst xmlns:a="http://schemas.openxmlformats.org/drawingml/2006/main">
              <a:ext uri="{FF2B5EF4-FFF2-40B4-BE49-F238E27FC236}">
                <a16:creationId xmlns:a16="http://schemas.microsoft.com/office/drawing/2014/main" id="{01799E1B-515F-4209-8535-8A432F89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主诉、科室、医院和地图需要共享当前状态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BBA5BC53-1C99-4D56-BD59-49603A32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思路：独立安全门统领路径">
            <a:extLst xmlns:a="http://schemas.openxmlformats.org/drawingml/2006/main">
              <a:ext uri="{FF2B5EF4-FFF2-40B4-BE49-F238E27FC236}">
                <a16:creationId xmlns:a16="http://schemas.microsoft.com/office/drawing/2014/main" id="{4FADCB91-7885-4E79-8A62-0527BDF5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433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思路：独立安全门统领路径</a:t>
            </a:r>
          </a:p>
        </p:txBody>
      </p:sp>
      <p:sp>
        <p:nvSpPr>
          <p:cNvPr id="13" name="先辨别优先级，再决定解释、追问与资源入口">
            <a:extLst xmlns:a="http://schemas.openxmlformats.org/drawingml/2006/main">
              <a:ext uri="{FF2B5EF4-FFF2-40B4-BE49-F238E27FC236}">
                <a16:creationId xmlns:a16="http://schemas.microsoft.com/office/drawing/2014/main" id="{73CFAE47-8815-4FB1-935C-B8C6A50D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先辨别优先级，再决定解释、追问与资源入口</a:t>
            </a:r>
          </a:p>
        </p:txBody>
      </p:sp>
      <p:sp>
        <p:nvSpPr>
          <p:cNvPr id="14" name="84 / 84">
            <a:extLst xmlns:a="http://schemas.openxmlformats.org/drawingml/2006/main">
              <a:ext uri="{FF2B5EF4-FFF2-40B4-BE49-F238E27FC236}">
                <a16:creationId xmlns:a16="http://schemas.microsoft.com/office/drawing/2014/main" id="{19633924-0BD6-4D2C-AA71-DE9B399E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84 / 84</a:t>
            </a:r>
          </a:p>
        </p:txBody>
      </p:sp>
      <p:sp>
        <p:nvSpPr>
          <p:cNvPr id="15" name="红旗样例检出">
            <a:extLst xmlns:a="http://schemas.openxmlformats.org/drawingml/2006/main">
              <a:ext uri="{FF2B5EF4-FFF2-40B4-BE49-F238E27FC236}">
                <a16:creationId xmlns:a16="http://schemas.microsoft.com/office/drawing/2014/main" id="{06C77C6D-A7C8-4B8F-A1EF-0544E12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578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红旗样例检出</a:t>
            </a:r>
          </a:p>
        </p:txBody>
      </p:sp>
      <p:sp>
        <p:nvSpPr>
          <p:cNvPr id="16" name="21 / 2,100">
            <a:extLst xmlns:a="http://schemas.openxmlformats.org/drawingml/2006/main">
              <a:ext uri="{FF2B5EF4-FFF2-40B4-BE49-F238E27FC236}">
                <a16:creationId xmlns:a16="http://schemas.microsoft.com/office/drawing/2014/main" id="{F8E32496-DA52-4549-8221-F22FB4FD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48275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21 / 2,100</a:t>
            </a:r>
          </a:p>
        </p:txBody>
      </p:sp>
      <p:sp>
        <p:nvSpPr>
          <p:cNvPr id="17" name="医院目录 / 医生资料">
            <a:extLst xmlns:a="http://schemas.openxmlformats.org/drawingml/2006/main">
              <a:ext uri="{FF2B5EF4-FFF2-40B4-BE49-F238E27FC236}">
                <a16:creationId xmlns:a16="http://schemas.microsoft.com/office/drawing/2014/main" id="{523437A8-59CE-4782-A62B-E25B0D1F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817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医院目录 / 医生资料</a:t>
            </a:r>
          </a:p>
        </p:txBody>
      </p:sp>
    </p:spTree>
    <p:extLst>
      <p:ext uri="{BB962C8B-B14F-4D97-AF65-F5344CB8AC3E}">
        <p14:creationId xmlns:p14="http://schemas.microsoft.com/office/powerpoint/2010/main" val="492520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E92BAB64-9A7A-4C72-B8B4-26E6FABA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一段主诉，进入完整的就医辅助路径">
            <a:extLst xmlns:a="http://schemas.openxmlformats.org/drawingml/2006/main">
              <a:ext uri="{FF2B5EF4-FFF2-40B4-BE49-F238E27FC236}">
                <a16:creationId xmlns:a16="http://schemas.microsoft.com/office/drawing/2014/main" id="{30A09949-95B2-4151-BFA8-AA135EEE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一段主诉，进入完整的就医辅助路径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9BE8A558-F485-4654-AB63-FDF7A60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A79FB539-736D-4907-AAAD-8B2423FD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生活语言进入">
            <a:extLst xmlns:a="http://schemas.openxmlformats.org/drawingml/2006/main">
              <a:ext uri="{FF2B5EF4-FFF2-40B4-BE49-F238E27FC236}">
                <a16:creationId xmlns:a16="http://schemas.microsoft.com/office/drawing/2014/main" id="{6AFC0AD1-50F0-462D-AE50-CC433EAD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生活语言进入</a:t>
            </a:r>
          </a:p>
        </p:txBody>
      </p:sp>
      <p:sp>
        <p:nvSpPr>
          <p:cNvPr id="6" name="安全状态先确定&#10;方向依据可查看&#10;本地资源可继续访问">
            <a:extLst xmlns:a="http://schemas.openxmlformats.org/drawingml/2006/main">
              <a:ext uri="{FF2B5EF4-FFF2-40B4-BE49-F238E27FC236}">
                <a16:creationId xmlns:a16="http://schemas.microsoft.com/office/drawing/2014/main" id="{CEB6FEF6-22E7-4615-9371-E931F3C7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409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安全状态先确定</a:t>
            </a:r>
          </a:p>
          <a:p xmlns:a="http://schemas.openxmlformats.org/drawingml/2006/main">
            <a: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方向依据可查看</a:t>
            </a:r>
          </a:p>
          <a:p xmlns:a="http://schemas.openxmlformats.org/drawingml/2006/main">
            <a: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本地资源可继续访问</a:t>
            </a:r>
          </a:p>
        </p:txBody>
      </p:sp>
      <p:sp>
        <p:nvSpPr>
          <p:cNvPr id="7" name="用户围绕“下一步”继续操作，&#10;主诉和当前状态始终相连">
            <a:extLst xmlns:a="http://schemas.openxmlformats.org/drawingml/2006/main">
              <a:ext uri="{FF2B5EF4-FFF2-40B4-BE49-F238E27FC236}">
                <a16:creationId xmlns:a16="http://schemas.microsoft.com/office/drawing/2014/main" id="{BCC75415-21EC-42EA-B231-801115CB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用户围绕“下一步”继续操作，</a:t>
            </a:r>
          </a:p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主诉和当前状态始终相连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41850-6165-46AE-90F8-729BA7C861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5c43b6ea1416e"/>
          <a:stretch xmlns:a="http://schemas.openxmlformats.org/drawingml/2006/main"/>
        </p:blipFill>
        <p:spPr>
          <a:xfrm xmlns:a="http://schemas.openxmlformats.org/drawingml/2006/main">
            <a:off x="5097780" y="1752600"/>
            <a:ext cx="637794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43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16F5912A-CF4D-41B3-BA96-C997275F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风险等级直接控制结果发布">
            <a:extLst xmlns:a="http://schemas.openxmlformats.org/drawingml/2006/main">
              <a:ext uri="{FF2B5EF4-FFF2-40B4-BE49-F238E27FC236}">
                <a16:creationId xmlns:a16="http://schemas.microsoft.com/office/drawing/2014/main" id="{710EBD19-9E93-47B8-9580-3AB1669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风险等级直接控制结果发布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7E0F16B3-3BA3-4B84-8B5A-1C1841B1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21C55E56-5F78-4A36-B16F-0EEEDA5C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ER">
            <a:extLst xmlns:a="http://schemas.openxmlformats.org/drawingml/2006/main">
              <a:ext uri="{FF2B5EF4-FFF2-40B4-BE49-F238E27FC236}">
                <a16:creationId xmlns:a16="http://schemas.microsoft.com/office/drawing/2014/main" id="{7C7DD955-EAC2-4A6F-87CC-B867AB23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6" name="急症优先出口">
            <a:extLst xmlns:a="http://schemas.openxmlformats.org/drawingml/2006/main">
              <a:ext uri="{FF2B5EF4-FFF2-40B4-BE49-F238E27FC236}">
                <a16:creationId xmlns:a16="http://schemas.microsoft.com/office/drawing/2014/main" id="{E7E63813-5912-4B7B-A77C-515BC708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907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急症优先出口</a:t>
            </a:r>
          </a:p>
        </p:txBody>
      </p:sp>
      <p:sp>
        <p:nvSpPr>
          <p:cNvPr id="7" name="危险信号触发优先处理，停止普通排行">
            <a:extLst xmlns:a="http://schemas.openxmlformats.org/drawingml/2006/main">
              <a:ext uri="{FF2B5EF4-FFF2-40B4-BE49-F238E27FC236}">
                <a16:creationId xmlns:a16="http://schemas.microsoft.com/office/drawing/2014/main" id="{57A632DE-4153-4022-A176-0168213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危险信号触发优先处理，停止普通排行</a:t>
            </a:r>
          </a:p>
        </p:txBody>
      </p:sp>
      <p:sp>
        <p:nvSpPr>
          <p:cNvPr id="8" name="U">
            <a:extLst xmlns:a="http://schemas.openxmlformats.org/drawingml/2006/main">
              <a:ext uri="{FF2B5EF4-FFF2-40B4-BE49-F238E27FC236}">
                <a16:creationId xmlns:a16="http://schemas.microsoft.com/office/drawing/2014/main" id="{25FBAF3C-CECA-4B68-8633-C1A1102E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A86A27"/>
                </a:solidFill>
                <a:latin typeface="Microsoft YaHei"/>
                <a:ea typeface="Microsoft YaHei"/>
                <a:cs typeface="Microsoft YaHei"/>
              </a:rPr>
              <a:t>U</a:t>
            </a:r>
          </a:p>
        </p:txBody>
      </p:sp>
      <p:sp>
        <p:nvSpPr>
          <p:cNvPr id="9" name="及时评估方向">
            <a:extLst xmlns:a="http://schemas.openxmlformats.org/drawingml/2006/main">
              <a:ext uri="{FF2B5EF4-FFF2-40B4-BE49-F238E27FC236}">
                <a16:creationId xmlns:a16="http://schemas.microsoft.com/office/drawing/2014/main" id="{B31AA761-8941-49BB-A3E7-D0242322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813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及时评估方向</a:t>
            </a:r>
          </a:p>
        </p:txBody>
      </p:sp>
      <p:sp>
        <p:nvSpPr>
          <p:cNvPr id="10" name="就医时效进入提示与资源策略">
            <a:extLst xmlns:a="http://schemas.openxmlformats.org/drawingml/2006/main">
              <a:ext uri="{FF2B5EF4-FFF2-40B4-BE49-F238E27FC236}">
                <a16:creationId xmlns:a16="http://schemas.microsoft.com/office/drawing/2014/main" id="{61F1B208-F382-41E7-B13A-9F3FA753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就医时效进入提示与资源策略</a:t>
            </a:r>
          </a:p>
        </p:txBody>
      </p:sp>
      <p:sp>
        <p:nvSpPr>
          <p:cNvPr id="11" name="R">
            <a:extLst xmlns:a="http://schemas.openxmlformats.org/drawingml/2006/main">
              <a:ext uri="{FF2B5EF4-FFF2-40B4-BE49-F238E27FC236}">
                <a16:creationId xmlns:a16="http://schemas.microsoft.com/office/drawing/2014/main" id="{E66A584E-43F8-4A0E-B6A1-CE580D53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12" name="普通路径衔接">
            <a:extLst xmlns:a="http://schemas.openxmlformats.org/drawingml/2006/main">
              <a:ext uri="{FF2B5EF4-FFF2-40B4-BE49-F238E27FC236}">
                <a16:creationId xmlns:a16="http://schemas.microsoft.com/office/drawing/2014/main" id="{8B49DECA-A9A3-4CED-B69A-E45B8C9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719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普通路径衔接</a:t>
            </a:r>
          </a:p>
        </p:txBody>
      </p:sp>
      <p:sp>
        <p:nvSpPr>
          <p:cNvPr id="13" name="科室方向继续连接医院、医生与地图">
            <a:extLst xmlns:a="http://schemas.openxmlformats.org/drawingml/2006/main">
              <a:ext uri="{FF2B5EF4-FFF2-40B4-BE49-F238E27FC236}">
                <a16:creationId xmlns:a16="http://schemas.microsoft.com/office/drawing/2014/main" id="{84DE4649-111E-4BDB-A3B9-74145053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科室方向继续连接医院、医生与地图</a:t>
            </a:r>
          </a:p>
        </p:txBody>
      </p:sp>
      <p:sp>
        <p:nvSpPr>
          <p:cNvPr id="14" name="I">
            <a:extLst xmlns:a="http://schemas.openxmlformats.org/drawingml/2006/main">
              <a:ext uri="{FF2B5EF4-FFF2-40B4-BE49-F238E27FC236}">
                <a16:creationId xmlns:a16="http://schemas.microsoft.com/office/drawing/2014/main" id="{002296EC-5A71-4D22-B992-FA930B86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15" name="补充医学信息">
            <a:extLst xmlns:a="http://schemas.openxmlformats.org/drawingml/2006/main">
              <a:ext uri="{FF2B5EF4-FFF2-40B4-BE49-F238E27FC236}">
                <a16:creationId xmlns:a16="http://schemas.microsoft.com/office/drawing/2014/main" id="{54727A16-B7BF-44D1-AF1F-6089E419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625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补充医学信息</a:t>
            </a:r>
          </a:p>
        </p:txBody>
      </p:sp>
      <p:sp>
        <p:nvSpPr>
          <p:cNvPr id="16" name="信息充分度决定追问与候选发布">
            <a:extLst xmlns:a="http://schemas.openxmlformats.org/drawingml/2006/main">
              <a:ext uri="{FF2B5EF4-FFF2-40B4-BE49-F238E27FC236}">
                <a16:creationId xmlns:a16="http://schemas.microsoft.com/office/drawing/2014/main" id="{2023BA45-34A8-4C75-918D-2E75A765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信息充分度决定追问与候选发布</a:t>
            </a:r>
          </a:p>
        </p:txBody>
      </p:sp>
    </p:spTree>
    <p:extLst>
      <p:ext uri="{BB962C8B-B14F-4D97-AF65-F5344CB8AC3E}">
        <p14:creationId xmlns:p14="http://schemas.microsoft.com/office/powerpoint/2010/main" val="476356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23C6F5BF-3CA6-477A-8E09-A9F4A2D5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危险信号出现，页面动作立即转向急症">
            <a:extLst xmlns:a="http://schemas.openxmlformats.org/drawingml/2006/main">
              <a:ext uri="{FF2B5EF4-FFF2-40B4-BE49-F238E27FC236}">
                <a16:creationId xmlns:a16="http://schemas.microsoft.com/office/drawing/2014/main" id="{FF0AB023-4AF0-4082-97F6-D5FAB544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危险信号出现，页面动作立即转向急症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734D028B-6EEE-41A4-9571-885B49D3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735D5740-B63C-42ED-92C7-5963A95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合成演示主诉">
            <a:extLst xmlns:a="http://schemas.openxmlformats.org/drawingml/2006/main">
              <a:ext uri="{FF2B5EF4-FFF2-40B4-BE49-F238E27FC236}">
                <a16:creationId xmlns:a16="http://schemas.microsoft.com/office/drawing/2014/main" id="{86D8F19F-2919-426E-B063-C7FF5C37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合成演示主诉</a:t>
            </a:r>
          </a:p>
        </p:txBody>
      </p:sp>
      <p:sp>
        <p:nvSpPr>
          <p:cNvPr id="6" name="“现在突然胸痛，&#10;喘不上气，出冷汗”">
            <a:extLst xmlns:a="http://schemas.openxmlformats.org/drawingml/2006/main">
              <a:ext uri="{FF2B5EF4-FFF2-40B4-BE49-F238E27FC236}">
                <a16:creationId xmlns:a16="http://schemas.microsoft.com/office/drawing/2014/main" id="{4327868C-B759-4E4A-865E-6F5A1DED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rPr>
              <a:t>“现在突然胸痛，</a:t>
            </a:r>
          </a:p>
          <a:p xmlns:a="http://schemas.openxmlformats.org/drawingml/2006/main">
            <a:pPr>
              <a:def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rPr>
              <a:t>喘不上气，出冷汗”</a:t>
            </a:r>
          </a:p>
        </p:txBody>
      </p:sp>
      <p:sp>
        <p:nvSpPr>
          <p:cNvPr id="7" name="状态：EMERGENCY&#10;普通候选退出发布&#10;急症出口成为">
            <a:extLst xmlns:a="http://schemas.openxmlformats.org/drawingml/2006/main">
              <a:ext uri="{FF2B5EF4-FFF2-40B4-BE49-F238E27FC236}">
                <a16:creationId xmlns:a16="http://schemas.microsoft.com/office/drawing/2014/main" id="{BB525CEA-5D47-4C66-B28D-BD6A2FE8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状态：EMERGENCY</a:t>
            </a:r>
          </a:p>
          <a:p xmlns:a="http://schemas.openxmlformats.org/drawingml/2006/main">
            <a: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普通候选退出发布</a:t>
            </a:r>
          </a:p>
          <a:p xmlns:a="http://schemas.openxmlformats.org/drawingml/2006/main">
            <a:pPr>
              <a:def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急症出口成为优先动作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A97F4-AA5B-4E2C-B55D-5AEBEDFC7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cb224b074497b"/>
          <a:stretch xmlns:a="http://schemas.openxmlformats.org/drawingml/2006/main"/>
        </p:blipFill>
        <p:spPr>
          <a:xfrm xmlns:a="http://schemas.openxmlformats.org/drawingml/2006/main">
            <a:off x="5143500" y="2068796"/>
            <a:ext cx="6429375" cy="34443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45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2A12E979-AC26-47C6-B33D-2A7BC05A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输出强度与当前信息相匹配">
            <a:extLst xmlns:a="http://schemas.openxmlformats.org/drawingml/2006/main">
              <a:ext uri="{FF2B5EF4-FFF2-40B4-BE49-F238E27FC236}">
                <a16:creationId xmlns:a16="http://schemas.microsoft.com/office/drawing/2014/main" id="{F71A6837-910A-4BF6-8627-E82136BA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输出强度与当前信息相匹配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66A692B9-D0B7-4A03-9F94-5E43BA65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B055E45F-460A-46E1-ACB7-1C6BE0EB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“我今年30岁，女性”">
            <a:extLst xmlns:a="http://schemas.openxmlformats.org/drawingml/2006/main">
              <a:ext uri="{FF2B5EF4-FFF2-40B4-BE49-F238E27FC236}">
                <a16:creationId xmlns:a16="http://schemas.microsoft.com/office/drawing/2014/main" id="{CB26D91A-4979-43FA-BAD1-7E0FD4EC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“我今年30岁，女性”</a:t>
            </a:r>
          </a:p>
        </p:txBody>
      </p:sp>
      <p:sp>
        <p:nvSpPr>
          <p:cNvPr id="6" name="识别人口语境&#10;转入医学主诉追问&#10;科室与疾病候选暂缓发布">
            <a:extLst xmlns:a="http://schemas.openxmlformats.org/drawingml/2006/main">
              <a:ext uri="{FF2B5EF4-FFF2-40B4-BE49-F238E27FC236}">
                <a16:creationId xmlns:a16="http://schemas.microsoft.com/office/drawing/2014/main" id="{0887A7D9-D373-4D39-B182-70BAFDE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238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识别人口语境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转入医学主诉追问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科室与疾病候选暂缓发布</a:t>
            </a:r>
          </a:p>
        </p:txBody>
      </p:sp>
      <p:sp>
        <p:nvSpPr>
          <p:cNvPr id="7" name="补充信息是服务的一步，&#10;澄清之后继续组织方向">
            <a:extLst xmlns:a="http://schemas.openxmlformats.org/drawingml/2006/main">
              <a:ext uri="{FF2B5EF4-FFF2-40B4-BE49-F238E27FC236}">
                <a16:creationId xmlns:a16="http://schemas.microsoft.com/office/drawing/2014/main" id="{312870A7-21EA-418A-86ED-2DFE77C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补充信息是服务的一步，</a:t>
            </a:r>
          </a:p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澄清之后继续组织方向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0BDB1-4C51-44A4-8074-2BE8C17482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f1418c798454a"/>
          <a:stretch xmlns:a="http://schemas.openxmlformats.org/drawingml/2006/main"/>
        </p:blipFill>
        <p:spPr>
          <a:xfrm xmlns:a="http://schemas.openxmlformats.org/drawingml/2006/main">
            <a:off x="5048250" y="1895826"/>
            <a:ext cx="6572250" cy="39235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67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8D5051A3-CBE0-4573-AAE8-B5CF2044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科室方向直接连接本地资源">
            <a:extLst xmlns:a="http://schemas.openxmlformats.org/drawingml/2006/main">
              <a:ext uri="{FF2B5EF4-FFF2-40B4-BE49-F238E27FC236}">
                <a16:creationId xmlns:a16="http://schemas.microsoft.com/office/drawing/2014/main" id="{619A406D-27F3-4F39-A1CC-38B03454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科室方向直接连接本地资源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D38CCACB-9482-44E4-8DD9-0AC074A7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C2943CF0-1BDC-4B0E-A224-0001B798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皮肤瘙痒一周">
            <a:extLst xmlns:a="http://schemas.openxmlformats.org/drawingml/2006/main">
              <a:ext uri="{FF2B5EF4-FFF2-40B4-BE49-F238E27FC236}">
                <a16:creationId xmlns:a16="http://schemas.microsoft.com/office/drawing/2014/main" id="{9014D679-8D71-4F72-82E3-9D50513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皮肤瘙痒一周</a:t>
            </a:r>
          </a:p>
        </p:txBody>
      </p:sp>
      <p:sp>
        <p:nvSpPr>
          <p:cNvPr id="6" name="当前方向：皮肤科&#10;追问补充严重程度&#10;继续查询医院与医生&#10;">
            <a:extLst xmlns:a="http://schemas.openxmlformats.org/drawingml/2006/main">
              <a:ext uri="{FF2B5EF4-FFF2-40B4-BE49-F238E27FC236}">
                <a16:creationId xmlns:a16="http://schemas.microsoft.com/office/drawing/2014/main" id="{8E59BE62-05F5-4503-9D97-BD6A4CE9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286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当前方向：皮肤科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追问补充严重程度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继续查询医院与医生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查看到院位置</a:t>
            </a:r>
          </a:p>
        </p:txBody>
      </p:sp>
      <p:sp>
        <p:nvSpPr>
          <p:cNvPr id="7" name="方向、依据与资源入口&#10;在同一条路径内衔接">
            <a:extLst xmlns:a="http://schemas.openxmlformats.org/drawingml/2006/main">
              <a:ext uri="{FF2B5EF4-FFF2-40B4-BE49-F238E27FC236}">
                <a16:creationId xmlns:a16="http://schemas.microsoft.com/office/drawing/2014/main" id="{822157A0-C2C7-4C81-808A-8BC6E0FA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方向、依据与资源入口</a:t>
            </a:r>
          </a:p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在同一条路径内衔接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3F06B-1781-427D-8731-07F52313C4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7d1fca78e4110"/>
          <a:stretch xmlns:a="http://schemas.openxmlformats.org/drawingml/2006/main"/>
        </p:blipFill>
        <p:spPr>
          <a:xfrm xmlns:a="http://schemas.openxmlformats.org/drawingml/2006/main">
            <a:off x="5336286" y="1838325"/>
            <a:ext cx="6281928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50056B77-C224-42AD-B634-EC0F46A4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常州目录让就医方向有具体落点">
            <a:extLst xmlns:a="http://schemas.openxmlformats.org/drawingml/2006/main">
              <a:ext uri="{FF2B5EF4-FFF2-40B4-BE49-F238E27FC236}">
                <a16:creationId xmlns:a16="http://schemas.microsoft.com/office/drawing/2014/main" id="{482791B9-CC7E-490D-A741-3341D734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常州目录让就医方向有具体落点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0A2C8690-1620-4A14-BB90-95895F3D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8EA189A8-1871-44C1-B289-E4DEFFDE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2A40C113-5C5E-4B6A-8043-1CC1B5B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医院目录记录">
            <a:extLst xmlns:a="http://schemas.openxmlformats.org/drawingml/2006/main">
              <a:ext uri="{FF2B5EF4-FFF2-40B4-BE49-F238E27FC236}">
                <a16:creationId xmlns:a16="http://schemas.microsoft.com/office/drawing/2014/main" id="{3727192D-CB92-4DB5-B3D2-3F63EB14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医院目录记录</a:t>
            </a:r>
          </a:p>
        </p:txBody>
      </p:sp>
      <p:sp>
        <p:nvSpPr>
          <p:cNvPr id="7" name="2,100">
            <a:extLst xmlns:a="http://schemas.openxmlformats.org/drawingml/2006/main">
              <a:ext uri="{FF2B5EF4-FFF2-40B4-BE49-F238E27FC236}">
                <a16:creationId xmlns:a16="http://schemas.microsoft.com/office/drawing/2014/main" id="{2C4F7B22-B5FC-46D7-AA5F-37DBA85A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2,100</a:t>
            </a:r>
          </a:p>
        </p:txBody>
      </p:sp>
      <p:sp>
        <p:nvSpPr>
          <p:cNvPr id="8" name="医生资料记录">
            <a:extLst xmlns:a="http://schemas.openxmlformats.org/drawingml/2006/main">
              <a:ext uri="{FF2B5EF4-FFF2-40B4-BE49-F238E27FC236}">
                <a16:creationId xmlns:a16="http://schemas.microsoft.com/office/drawing/2014/main" id="{BD36406B-B34C-45C9-B447-D35A5FAF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医生资料记录</a:t>
            </a:r>
          </a:p>
        </p:txBody>
      </p:sp>
      <p:sp>
        <p:nvSpPr>
          <p:cNvPr id="9" name="医生资料涉及 11 家医院&#10;目录包含 194 个科室条目">
            <a:extLst xmlns:a="http://schemas.openxmlformats.org/drawingml/2006/main">
              <a:ext uri="{FF2B5EF4-FFF2-40B4-BE49-F238E27FC236}">
                <a16:creationId xmlns:a16="http://schemas.microsoft.com/office/drawing/2014/main" id="{55DA14FD-1F64-4DDF-A1D0-FEC285C5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4333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医生资料涉及 11 家医院</a:t>
            </a:r>
          </a:p>
          <a:p xmlns:a="http://schemas.openxmlformats.org/drawingml/2006/main">
            <a: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目录包含 194 个科室条目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79BAA-4199-4D43-ADC8-D67E27B3A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246cdff4949b2"/>
          <a:stretch xmlns:a="http://schemas.openxmlformats.org/drawingml/2006/main"/>
        </p:blipFill>
        <p:spPr>
          <a:xfrm xmlns:a="http://schemas.openxmlformats.org/drawingml/2006/main">
            <a:off x="5409248" y="1733550"/>
            <a:ext cx="5897880" cy="4095750"/>
          </a:xfrm>
          <a:prstGeom xmlns:a="http://schemas.openxmlformats.org/drawingml/2006/main" prst="rect">
            <a:avLst/>
          </a:prstGeom>
        </p:spPr>
      </p:pic>
      <p:sp>
        <p:nvSpPr>
          <p:cNvPr id="11" name="地图底图 © OpenStreetMap contrib">
            <a:extLst xmlns:a="http://schemas.openxmlformats.org/drawingml/2006/main">
              <a:ext uri="{FF2B5EF4-FFF2-40B4-BE49-F238E27FC236}">
                <a16:creationId xmlns:a16="http://schemas.microsoft.com/office/drawing/2014/main" id="{87A1527A-CA8F-4667-B30E-78697E92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886450"/>
            <a:ext cx="652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地图底图 © OpenStreetMap contributors</a:t>
            </a:r>
          </a:p>
        </p:txBody>
      </p:sp>
      <p:sp>
        <p:nvSpPr>
          <p:cNvPr id="12" name="距离为估算；实时接诊以医疗机构确认为准">
            <a:extLst xmlns:a="http://schemas.openxmlformats.org/drawingml/2006/main">
              <a:ext uri="{FF2B5EF4-FFF2-40B4-BE49-F238E27FC236}">
                <a16:creationId xmlns:a16="http://schemas.microsoft.com/office/drawing/2014/main" id="{C22AF360-973C-4210-8764-54DB5D5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53150"/>
            <a:ext cx="652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距离为估算；实时接诊以医疗机构确认为准</a:t>
            </a:r>
          </a:p>
        </p:txBody>
      </p:sp>
    </p:spTree>
    <p:extLst>
      <p:ext uri="{BB962C8B-B14F-4D97-AF65-F5344CB8AC3E}">
        <p14:creationId xmlns:p14="http://schemas.microsoft.com/office/powerpoint/2010/main" val="229189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AD9B5AA5-E72A-42C4-8636-0F4ABA5A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解释直接服务用户的下一步">
            <a:extLst xmlns:a="http://schemas.openxmlformats.org/drawingml/2006/main">
              <a:ext uri="{FF2B5EF4-FFF2-40B4-BE49-F238E27FC236}">
                <a16:creationId xmlns:a16="http://schemas.microsoft.com/office/drawing/2014/main" id="{5CA1F03D-D36A-44BA-B569-2DDA275E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解释直接服务用户的下一步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3C997B0F-E59E-40BF-9597-153A083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7F925C2F-2CEA-49C0-98A4-9B5E2E98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597D6C25-F4DF-4D0D-A023-32964A03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当前理解">
            <a:extLst xmlns:a="http://schemas.openxmlformats.org/drawingml/2006/main">
              <a:ext uri="{FF2B5EF4-FFF2-40B4-BE49-F238E27FC236}">
                <a16:creationId xmlns:a16="http://schemas.microsoft.com/office/drawing/2014/main" id="{9A3A10D2-B71B-4CDD-A10D-6447FABC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288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当前理解</a:t>
            </a:r>
          </a:p>
        </p:txBody>
      </p:sp>
      <p:sp>
        <p:nvSpPr>
          <p:cNvPr id="7" name="把已识别信息和待补充内容展示给用户">
            <a:extLst xmlns:a="http://schemas.openxmlformats.org/drawingml/2006/main">
              <a:ext uri="{FF2B5EF4-FFF2-40B4-BE49-F238E27FC236}">
                <a16:creationId xmlns:a16="http://schemas.microsoft.com/office/drawing/2014/main" id="{C217EB4C-2A75-490C-95E8-9DF53493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把已识别信息和待补充内容展示给用户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F4241C41-6906-4DDA-ADA2-07BF7FC7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科室方向">
            <a:extLst xmlns:a="http://schemas.openxmlformats.org/drawingml/2006/main">
              <a:ext uri="{FF2B5EF4-FFF2-40B4-BE49-F238E27FC236}">
                <a16:creationId xmlns:a16="http://schemas.microsoft.com/office/drawing/2014/main" id="{79F74B1F-6C1E-409F-95A3-F502DBF2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147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科室方向</a:t>
            </a:r>
          </a:p>
        </p:txBody>
      </p:sp>
      <p:sp>
        <p:nvSpPr>
          <p:cNvPr id="10" name="参考方向与相关依据同时呈现">
            <a:extLst xmlns:a="http://schemas.openxmlformats.org/drawingml/2006/main">
              <a:ext uri="{FF2B5EF4-FFF2-40B4-BE49-F238E27FC236}">
                <a16:creationId xmlns:a16="http://schemas.microsoft.com/office/drawing/2014/main" id="{63094BC4-334F-46B2-8738-10BA7507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432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参考方向与相关依据同时呈现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36CB8F13-22C1-4AC7-A24A-0AA03F8D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行动入口">
            <a:extLst xmlns:a="http://schemas.openxmlformats.org/drawingml/2006/main">
              <a:ext uri="{FF2B5EF4-FFF2-40B4-BE49-F238E27FC236}">
                <a16:creationId xmlns:a16="http://schemas.microsoft.com/office/drawing/2014/main" id="{3E598B44-5BDD-441A-889B-0B6D844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005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行动入口</a:t>
            </a:r>
          </a:p>
        </p:txBody>
      </p:sp>
      <p:sp>
        <p:nvSpPr>
          <p:cNvPr id="13" name="继续追问、查询资源、查看地图各有入口">
            <a:extLst xmlns:a="http://schemas.openxmlformats.org/drawingml/2006/main">
              <a:ext uri="{FF2B5EF4-FFF2-40B4-BE49-F238E27FC236}">
                <a16:creationId xmlns:a16="http://schemas.microsoft.com/office/drawing/2014/main" id="{D88BF3F7-EFCD-453B-AEB2-2F9DDF0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继续追问、查询资源、查看地图各有入口</a:t>
            </a:r>
          </a:p>
        </p:txBody>
      </p:sp>
    </p:spTree>
    <p:extLst>
      <p:ext uri="{BB962C8B-B14F-4D97-AF65-F5344CB8AC3E}">
        <p14:creationId xmlns:p14="http://schemas.microsoft.com/office/powerpoint/2010/main" val="4692703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84660454-E3A0-48D7-BDC0-9845181C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安全优先级贯穿分诊与资源服务">
            <a:extLst xmlns:a="http://schemas.openxmlformats.org/drawingml/2006/main">
              <a:ext uri="{FF2B5EF4-FFF2-40B4-BE49-F238E27FC236}">
                <a16:creationId xmlns:a16="http://schemas.microsoft.com/office/drawing/2014/main" id="{36349C16-D464-46DC-AFA7-68FD005A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安全优先级贯穿分诊与资源服务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33CFE886-25D1-4753-9A7A-B93FE4F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4637D37B-2692-4876-954C-A7092E67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独立安全门">
            <a:extLst xmlns:a="http://schemas.openxmlformats.org/drawingml/2006/main">
              <a:ext uri="{FF2B5EF4-FFF2-40B4-BE49-F238E27FC236}">
                <a16:creationId xmlns:a16="http://schemas.microsoft.com/office/drawing/2014/main" id="{35CC89DA-3180-40CE-8CB8-63D583AA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独立安全门</a:t>
            </a:r>
          </a:p>
        </p:txBody>
      </p:sp>
      <p:sp>
        <p:nvSpPr>
          <p:cNvPr id="6" name="识别风险与信息充分度&#10;决定公共输出状态&#10;控制候选发布方式">
            <a:extLst xmlns:a="http://schemas.openxmlformats.org/drawingml/2006/main">
              <a:ext uri="{FF2B5EF4-FFF2-40B4-BE49-F238E27FC236}">
                <a16:creationId xmlns:a16="http://schemas.microsoft.com/office/drawing/2014/main" id="{AD772696-355C-440E-BBC5-F0917574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09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识别风险与信息充分度</a:t>
            </a:r>
          </a:p>
          <a:p xmlns:a="http://schemas.openxmlformats.org/drawingml/2006/main">
            <a: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决定公共输出状态</a:t>
            </a:r>
          </a:p>
          <a:p xmlns:a="http://schemas.openxmlformats.org/drawingml/2006/main">
            <a:pPr>
              <a:def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控制候选发布方式</a:t>
            </a:r>
          </a:p>
        </p:txBody>
      </p:sp>
      <p:sp>
        <p:nvSpPr>
          <p:cNvPr id="7" name="同一状态进入资源策略">
            <a:extLst xmlns:a="http://schemas.openxmlformats.org/drawingml/2006/main">
              <a:ext uri="{FF2B5EF4-FFF2-40B4-BE49-F238E27FC236}">
                <a16:creationId xmlns:a16="http://schemas.microsoft.com/office/drawing/2014/main" id="{F70745C8-19DC-432D-B28D-385CFBAE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同一状态进入资源策略</a:t>
            </a:r>
          </a:p>
        </p:txBody>
      </p:sp>
      <p:sp>
        <p:nvSpPr>
          <p:cNvPr id="8" name="急症采用急症优先策略&#10;普通路径组织科室与可及性&#10;个人偏好">
            <a:extLst xmlns:a="http://schemas.openxmlformats.org/drawingml/2006/main">
              <a:ext uri="{FF2B5EF4-FFF2-40B4-BE49-F238E27FC236}">
                <a16:creationId xmlns:a16="http://schemas.microsoft.com/office/drawing/2014/main" id="{85BA6C73-BB47-4638-92AD-C2AFB418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急症采用急症优先策略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普通路径组织科室与可及性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个人偏好在安全约束内生效</a:t>
            </a:r>
          </a:p>
        </p:txBody>
      </p:sp>
      <p:sp>
        <p:nvSpPr>
          <p:cNvPr id="9" name="分诊状态  →  发布规则  →  资源策略  →  用">
            <a:extLst xmlns:a="http://schemas.openxmlformats.org/drawingml/2006/main">
              <a:ext uri="{FF2B5EF4-FFF2-40B4-BE49-F238E27FC236}">
                <a16:creationId xmlns:a16="http://schemas.microsoft.com/office/drawing/2014/main" id="{C546D2B9-C39A-4F2E-9126-B986E8B3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分诊状态  →  发布规则  →  资源策略  →  用户动作</a:t>
            </a:r>
          </a:p>
        </p:txBody>
      </p:sp>
    </p:spTree>
    <p:extLst>
      <p:ext uri="{BB962C8B-B14F-4D97-AF65-F5344CB8AC3E}">
        <p14:creationId xmlns:p14="http://schemas.microsoft.com/office/powerpoint/2010/main" val="16268077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664E0FFE-599A-46A0-9CCC-26ECCEE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84个红旗样例全部检出，急症漏报0">
            <a:extLst xmlns:a="http://schemas.openxmlformats.org/drawingml/2006/main">
              <a:ext uri="{FF2B5EF4-FFF2-40B4-BE49-F238E27FC236}">
                <a16:creationId xmlns:a16="http://schemas.microsoft.com/office/drawing/2014/main" id="{432AC516-59AB-4479-A553-F6CE625D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84个红旗样例全部检出，急症漏报0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EE3A0F3D-AE34-4502-8303-9F49EBC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F288AB69-1766-443F-B168-7DE336EE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B40B03B-16D6-4ED2-AB0F-C90E640441C3}"/>
              </a:ext>
            </a:extLst>
          </p:cNvPr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71437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59d6698c8e4a47"/>
          </a:graphicData>
        </a:graphic>
      </p:graphicFrame>
      <p:sp>
        <p:nvSpPr>
          <p:cNvPr id="6" name="100%">
            <a:extLst xmlns:a="http://schemas.openxmlformats.org/drawingml/2006/main">
              <a:ext uri="{FF2B5EF4-FFF2-40B4-BE49-F238E27FC236}">
                <a16:creationId xmlns:a16="http://schemas.microsoft.com/office/drawing/2014/main" id="{64332D44-C47A-44D1-8763-35C45373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14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7" name="红旗召回率 · 84/84">
            <a:extLst xmlns:a="http://schemas.openxmlformats.org/drawingml/2006/main">
              <a:ext uri="{FF2B5EF4-FFF2-40B4-BE49-F238E27FC236}">
                <a16:creationId xmlns:a16="http://schemas.microsoft.com/office/drawing/2014/main" id="{7FB0CBD4-6B28-4F7C-902A-A44C6B54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红旗召回率 · 84/84</a:t>
            </a:r>
          </a:p>
        </p:txBody>
      </p:sp>
      <p:sp>
        <p:nvSpPr>
          <p:cNvPr id="8" name="0">
            <a:extLst xmlns:a="http://schemas.openxmlformats.org/drawingml/2006/main">
              <a:ext uri="{FF2B5EF4-FFF2-40B4-BE49-F238E27FC236}">
                <a16:creationId xmlns:a16="http://schemas.microsoft.com/office/drawing/2014/main" id="{A94F5EFF-B55B-460A-9273-C8527B8A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333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" name="急症漏报">
            <a:extLst xmlns:a="http://schemas.openxmlformats.org/drawingml/2006/main">
              <a:ext uri="{FF2B5EF4-FFF2-40B4-BE49-F238E27FC236}">
                <a16:creationId xmlns:a16="http://schemas.microsoft.com/office/drawing/2014/main" id="{E6D348B4-A7F4-4637-818C-627288C9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243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急症漏报</a:t>
            </a:r>
          </a:p>
        </p:txBody>
      </p:sp>
      <p:sp>
        <p:nvSpPr>
          <p:cNvPr id="10" name="7 / 7">
            <a:extLst xmlns:a="http://schemas.openxmlformats.org/drawingml/2006/main">
              <a:ext uri="{FF2B5EF4-FFF2-40B4-BE49-F238E27FC236}">
                <a16:creationId xmlns:a16="http://schemas.microsoft.com/office/drawing/2014/main" id="{EAD59D8E-F89A-4EFB-8582-E126B1AB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434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7 / 7</a:t>
            </a:r>
          </a:p>
        </p:txBody>
      </p:sp>
      <p:sp>
        <p:nvSpPr>
          <p:cNvPr id="11" name="信息不足样例匹配">
            <a:extLst xmlns:a="http://schemas.openxmlformats.org/drawingml/2006/main">
              <a:ext uri="{FF2B5EF4-FFF2-40B4-BE49-F238E27FC236}">
                <a16:creationId xmlns:a16="http://schemas.microsoft.com/office/drawing/2014/main" id="{8F972273-803F-4771-BA76-1EFFC23A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054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信息不足样例匹配</a:t>
            </a:r>
          </a:p>
        </p:txBody>
      </p:sp>
      <p:sp>
        <p:nvSpPr>
          <p:cNvPr id="12" name="固定 Safety 142 例 · Under-tria">
            <a:extLst xmlns:a="http://schemas.openxmlformats.org/drawingml/2006/main">
              <a:ext uri="{FF2B5EF4-FFF2-40B4-BE49-F238E27FC236}">
                <a16:creationId xmlns:a16="http://schemas.microsoft.com/office/drawing/2014/main" id="{905693A9-29D3-490B-8993-14477EC8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固定 Safety 142 例 · Under-triage 0 / Over-triage 0 · 2026-10-22</a:t>
            </a:r>
          </a:p>
        </p:txBody>
      </p:sp>
    </p:spTree>
    <p:extLst>
      <p:ext uri="{BB962C8B-B14F-4D97-AF65-F5344CB8AC3E}">
        <p14:creationId xmlns:p14="http://schemas.microsoft.com/office/powerpoint/2010/main" val="8891004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28FAAE26-CF23-4EAB-8099-9B7BEBA5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三类路径各自给出可继续的动作">
            <a:extLst xmlns:a="http://schemas.openxmlformats.org/drawingml/2006/main">
              <a:ext uri="{FF2B5EF4-FFF2-40B4-BE49-F238E27FC236}">
                <a16:creationId xmlns:a16="http://schemas.microsoft.com/office/drawing/2014/main" id="{98B3829D-9CB5-4672-83D1-78A0CBC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三类路径各自给出可继续的动作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779335E3-3C5E-4358-8BD5-4368BE4E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862EFDFD-550D-433B-B5C6-02A2CD41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ER">
            <a:extLst xmlns:a="http://schemas.openxmlformats.org/drawingml/2006/main">
              <a:ext uri="{FF2B5EF4-FFF2-40B4-BE49-F238E27FC236}">
                <a16:creationId xmlns:a16="http://schemas.microsoft.com/office/drawing/2014/main" id="{EAB43DD0-AB46-4BA9-A931-FCF5297C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B33342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6" name="危险信号 → 急症出口">
            <a:extLst xmlns:a="http://schemas.openxmlformats.org/drawingml/2006/main">
              <a:ext uri="{FF2B5EF4-FFF2-40B4-BE49-F238E27FC236}">
                <a16:creationId xmlns:a16="http://schemas.microsoft.com/office/drawing/2014/main" id="{07EFA191-3CBC-4E66-9F31-F40C4CA4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288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危险信号 → 急症出口</a:t>
            </a:r>
          </a:p>
        </p:txBody>
      </p:sp>
      <p:sp>
        <p:nvSpPr>
          <p:cNvPr id="7" name="停止普通排行，优先呈现急症行动入口">
            <a:extLst xmlns:a="http://schemas.openxmlformats.org/drawingml/2006/main">
              <a:ext uri="{FF2B5EF4-FFF2-40B4-BE49-F238E27FC236}">
                <a16:creationId xmlns:a16="http://schemas.microsoft.com/office/drawing/2014/main" id="{038A744C-1308-4659-90A0-32362E9D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停止普通排行，优先呈现急症行动入口</a:t>
            </a:r>
          </a:p>
        </p:txBody>
      </p:sp>
      <p:sp>
        <p:nvSpPr>
          <p:cNvPr id="8" name="I">
            <a:extLst xmlns:a="http://schemas.openxmlformats.org/drawingml/2006/main">
              <a:ext uri="{FF2B5EF4-FFF2-40B4-BE49-F238E27FC236}">
                <a16:creationId xmlns:a16="http://schemas.microsoft.com/office/drawing/2014/main" id="{369F9991-501C-4050-AD5A-EAA85A67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4383A1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9" name="人口语境 → 补充主诉">
            <a:extLst xmlns:a="http://schemas.openxmlformats.org/drawingml/2006/main">
              <a:ext uri="{FF2B5EF4-FFF2-40B4-BE49-F238E27FC236}">
                <a16:creationId xmlns:a16="http://schemas.microsoft.com/office/drawing/2014/main" id="{D3508133-3364-47A2-8F96-F8125D68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147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人口语境 → 补充主诉</a:t>
            </a:r>
          </a:p>
        </p:txBody>
      </p:sp>
      <p:sp>
        <p:nvSpPr>
          <p:cNvPr id="10" name="澄清医学信息，保持候选发布与证据相匹配">
            <a:extLst xmlns:a="http://schemas.openxmlformats.org/drawingml/2006/main">
              <a:ext uri="{FF2B5EF4-FFF2-40B4-BE49-F238E27FC236}">
                <a16:creationId xmlns:a16="http://schemas.microsoft.com/office/drawing/2014/main" id="{A0F93042-40B2-4B38-8495-7CE4D101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432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澄清医学信息，保持候选发布与证据相匹配</a:t>
            </a:r>
          </a:p>
        </p:txBody>
      </p:sp>
      <p:sp>
        <p:nvSpPr>
          <p:cNvPr id="11" name="R">
            <a:extLst xmlns:a="http://schemas.openxmlformats.org/drawingml/2006/main">
              <a:ext uri="{FF2B5EF4-FFF2-40B4-BE49-F238E27FC236}">
                <a16:creationId xmlns:a16="http://schemas.microsoft.com/office/drawing/2014/main" id="{91661B6E-4961-47F2-BAC7-90181E5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12" name="普通主诉 → 方向与资源">
            <a:extLst xmlns:a="http://schemas.openxmlformats.org/drawingml/2006/main">
              <a:ext uri="{FF2B5EF4-FFF2-40B4-BE49-F238E27FC236}">
                <a16:creationId xmlns:a16="http://schemas.microsoft.com/office/drawing/2014/main" id="{C87791EC-1C43-412C-AD61-14216D3B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005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普通主诉 → 方向与资源</a:t>
            </a:r>
          </a:p>
        </p:txBody>
      </p:sp>
      <p:sp>
        <p:nvSpPr>
          <p:cNvPr id="13" name="给出皮肤科参考方向，继续医院、医生与地图">
            <a:extLst xmlns:a="http://schemas.openxmlformats.org/drawingml/2006/main">
              <a:ext uri="{FF2B5EF4-FFF2-40B4-BE49-F238E27FC236}">
                <a16:creationId xmlns:a16="http://schemas.microsoft.com/office/drawing/2014/main" id="{3AABEBC8-BE2D-40EC-8EFF-4E02C3D3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给出皮肤科参考方向，继续医院、医生与地图</a:t>
            </a:r>
          </a:p>
        </p:txBody>
      </p:sp>
    </p:spTree>
    <p:extLst>
      <p:ext uri="{BB962C8B-B14F-4D97-AF65-F5344CB8AC3E}">
        <p14:creationId xmlns:p14="http://schemas.microsoft.com/office/powerpoint/2010/main" val="8820013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216E82AB-D08A-4C41-BBD1-5AC62CFC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城市目录独立装载，安全逻辑统一复用">
            <a:extLst xmlns:a="http://schemas.openxmlformats.org/drawingml/2006/main">
              <a:ext uri="{FF2B5EF4-FFF2-40B4-BE49-F238E27FC236}">
                <a16:creationId xmlns:a16="http://schemas.microsoft.com/office/drawing/2014/main" id="{A84F9246-420E-4E8F-AA7F-CFD0DE8A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城市目录独立装载，安全逻辑统一复用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3DD96C0B-8C0F-4385-AA79-4AE7CD31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443D5DC0-BCDE-4A6F-BE00-512DCCA2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统一服务链">
            <a:extLst xmlns:a="http://schemas.openxmlformats.org/drawingml/2006/main">
              <a:ext uri="{FF2B5EF4-FFF2-40B4-BE49-F238E27FC236}">
                <a16:creationId xmlns:a16="http://schemas.microsoft.com/office/drawing/2014/main" id="{3FE4D0B0-77E1-445B-B936-5954115A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统一服务链</a:t>
            </a:r>
          </a:p>
        </p:txBody>
      </p:sp>
      <p:sp>
        <p:nvSpPr>
          <p:cNvPr id="6" name="主诉理解 → 安全状态&#10;→ 方向解释 → 资源服务">
            <a:extLst xmlns:a="http://schemas.openxmlformats.org/drawingml/2006/main">
              <a:ext uri="{FF2B5EF4-FFF2-40B4-BE49-F238E27FC236}">
                <a16:creationId xmlns:a16="http://schemas.microsoft.com/office/drawing/2014/main" id="{F0109F06-C433-4B10-BACF-6A84D262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主诉理解 → 安全状态</a:t>
            </a:r>
          </a:p>
          <a:p xmlns:a="http://schemas.openxmlformats.org/drawingml/2006/main">
            <a:pPr>
              <a:def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→ 方向解释 → 资源服务</a:t>
            </a:r>
          </a:p>
        </p:txBody>
      </p:sp>
      <p:sp>
        <p:nvSpPr>
          <p:cNvPr id="7" name="Region Pack">
            <a:extLst xmlns:a="http://schemas.openxmlformats.org/drawingml/2006/main">
              <a:ext uri="{FF2B5EF4-FFF2-40B4-BE49-F238E27FC236}">
                <a16:creationId xmlns:a16="http://schemas.microsoft.com/office/drawing/2014/main" id="{976BF978-1748-4AEA-BA65-FF4693E7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Region Pack</a:t>
            </a:r>
          </a:p>
        </p:txBody>
      </p:sp>
      <p:sp>
        <p:nvSpPr>
          <p:cNvPr id="8" name="独立组织城市医疗目录&#10;通过资源仓库接入服务&#10;常州代码：3">
            <a:extLst xmlns:a="http://schemas.openxmlformats.org/drawingml/2006/main">
              <a:ext uri="{FF2B5EF4-FFF2-40B4-BE49-F238E27FC236}">
                <a16:creationId xmlns:a16="http://schemas.microsoft.com/office/drawing/2014/main" id="{E0BBFFE8-F901-4C5E-8BDA-CC9C9515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独立组织城市医疗目录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通过资源仓库接入服务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常州代码：320400</a:t>
            </a:r>
          </a:p>
        </p:txBody>
      </p:sp>
      <p:sp>
        <p:nvSpPr>
          <p:cNvPr id="9" name="React + Flask  /  统一 API  / ">
            <a:extLst xmlns:a="http://schemas.openxmlformats.org/drawingml/2006/main">
              <a:ext uri="{FF2B5EF4-FFF2-40B4-BE49-F238E27FC236}">
                <a16:creationId xmlns:a16="http://schemas.microsoft.com/office/drawing/2014/main" id="{0892DB66-001E-4864-868E-93AAB0A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React + Flask  /  统一 API  /  CPU 环境可运行</a:t>
            </a:r>
          </a:p>
        </p:txBody>
      </p:sp>
    </p:spTree>
    <p:extLst>
      <p:ext uri="{BB962C8B-B14F-4D97-AF65-F5344CB8AC3E}">
        <p14:creationId xmlns:p14="http://schemas.microsoft.com/office/powerpoint/2010/main" val="16246706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常医智导 · AI+医学">
            <a:extLst xmlns:a="http://schemas.openxmlformats.org/drawingml/2006/main">
              <a:ext uri="{FF2B5EF4-FFF2-40B4-BE49-F238E27FC236}">
                <a16:creationId xmlns:a16="http://schemas.microsoft.com/office/drawing/2014/main" id="{D3E5AD2B-9F0C-4415-866C-5FFF2907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常医智导 · AI+医学</a:t>
            </a:r>
          </a:p>
        </p:txBody>
      </p:sp>
      <p:sp>
        <p:nvSpPr>
          <p:cNvPr id="2" name="面向居民自助与城市就医服务入口">
            <a:extLst xmlns:a="http://schemas.openxmlformats.org/drawingml/2006/main">
              <a:ext uri="{FF2B5EF4-FFF2-40B4-BE49-F238E27FC236}">
                <a16:creationId xmlns:a16="http://schemas.microsoft.com/office/drawing/2014/main" id="{698287A3-D7A1-4DA9-8A3A-F2EE942F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面向居民自助与城市就医服务入口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6F488FEC-3776-4A8C-8180-E09DD6BC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C34EA88A-CE37-4766-A1D3-7166CC2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3172573C-E90E-4753-BB23-96137FEE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居民自助查询">
            <a:extLst xmlns:a="http://schemas.openxmlformats.org/drawingml/2006/main">
              <a:ext uri="{FF2B5EF4-FFF2-40B4-BE49-F238E27FC236}">
                <a16:creationId xmlns:a16="http://schemas.microsoft.com/office/drawing/2014/main" id="{46B1CD3D-F083-479B-A699-54BA483E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288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居民自助查询</a:t>
            </a:r>
          </a:p>
        </p:txBody>
      </p:sp>
      <p:sp>
        <p:nvSpPr>
          <p:cNvPr id="7" name="从描述不适进入方向与本地资源查询">
            <a:extLst xmlns:a="http://schemas.openxmlformats.org/drawingml/2006/main">
              <a:ext uri="{FF2B5EF4-FFF2-40B4-BE49-F238E27FC236}">
                <a16:creationId xmlns:a16="http://schemas.microsoft.com/office/drawing/2014/main" id="{FE4E4525-2202-4662-ADA9-189033FC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从描述不适进入方向与本地资源查询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42B2BCB1-D8D0-41E1-B667-73C6FF2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社区服务导诊">
            <a:extLst xmlns:a="http://schemas.openxmlformats.org/drawingml/2006/main">
              <a:ext uri="{FF2B5EF4-FFF2-40B4-BE49-F238E27FC236}">
                <a16:creationId xmlns:a16="http://schemas.microsoft.com/office/drawing/2014/main" id="{9B908E8B-BB99-4111-9D14-060ED0EB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147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社区服务导诊</a:t>
            </a:r>
          </a:p>
        </p:txBody>
      </p:sp>
      <p:sp>
        <p:nvSpPr>
          <p:cNvPr id="10" name="将风险提示、方向解释与资源查询连接">
            <a:extLst xmlns:a="http://schemas.openxmlformats.org/drawingml/2006/main">
              <a:ext uri="{FF2B5EF4-FFF2-40B4-BE49-F238E27FC236}">
                <a16:creationId xmlns:a16="http://schemas.microsoft.com/office/drawing/2014/main" id="{F0D747FC-01E8-4E6B-B9E9-CE54D21D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432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将风险提示、方向解释与资源查询连接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9C61E19A-DC54-4478-A150-6985C7E7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城市资源服务入口">
            <a:extLst xmlns:a="http://schemas.openxmlformats.org/drawingml/2006/main">
              <a:ext uri="{FF2B5EF4-FFF2-40B4-BE49-F238E27FC236}">
                <a16:creationId xmlns:a16="http://schemas.microsoft.com/office/drawing/2014/main" id="{436BDFD7-52F2-4765-B2A3-59DCE73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005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城市资源服务入口</a:t>
            </a:r>
          </a:p>
        </p:txBody>
      </p:sp>
      <p:sp>
        <p:nvSpPr>
          <p:cNvPr id="13" name="以 Region Pack 组织区域数据与接入">
            <a:extLst xmlns:a="http://schemas.openxmlformats.org/drawingml/2006/main">
              <a:ext uri="{FF2B5EF4-FFF2-40B4-BE49-F238E27FC236}">
                <a16:creationId xmlns:a16="http://schemas.microsoft.com/office/drawing/2014/main" id="{25DA93DB-6072-48DF-8643-D043DF3C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以 Region Pack 组织区域数据与接入</a:t>
            </a:r>
          </a:p>
        </p:txBody>
      </p:sp>
    </p:spTree>
    <p:extLst>
      <p:ext uri="{BB962C8B-B14F-4D97-AF65-F5344CB8AC3E}">
        <p14:creationId xmlns:p14="http://schemas.microsoft.com/office/powerpoint/2010/main" val="4385931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常医智导">
            <a:extLst xmlns:a="http://schemas.openxmlformats.org/drawingml/2006/main">
              <a:ext uri="{FF2B5EF4-FFF2-40B4-BE49-F238E27FC236}">
                <a16:creationId xmlns:a16="http://schemas.microsoft.com/office/drawing/2014/main" id="{75DF46D7-FACF-41C4-BF93-8706EF5F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rPr>
              <a:t>常医智导</a:t>
            </a:r>
          </a:p>
        </p:txBody>
      </p:sp>
      <p:sp>
        <p:nvSpPr>
          <p:cNvPr id="2" name="先识别风险，再连接就医行动">
            <a:extLst xmlns:a="http://schemas.openxmlformats.org/drawingml/2006/main">
              <a:ext uri="{FF2B5EF4-FFF2-40B4-BE49-F238E27FC236}">
                <a16:creationId xmlns:a16="http://schemas.microsoft.com/office/drawing/2014/main" id="{24FD16B2-ABC7-4DFD-B5A6-CCA177D1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先识别风险，再连接就医行动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FA2728D4-EF9D-41B6-A9CB-79ED971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598438A4-594D-4DEC-9AFA-85964C6F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AB9B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安全优先">
            <a:extLst xmlns:a="http://schemas.openxmlformats.org/drawingml/2006/main">
              <a:ext uri="{FF2B5EF4-FFF2-40B4-BE49-F238E27FC236}">
                <a16:creationId xmlns:a16="http://schemas.microsoft.com/office/drawing/2014/main" id="{5F4D10E4-FB54-4E23-AB3F-013C10D7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rPr>
              <a:t>安全优先</a:t>
            </a:r>
          </a:p>
        </p:txBody>
      </p:sp>
      <p:sp>
        <p:nvSpPr>
          <p:cNvPr id="6" name="方向可解释">
            <a:extLst xmlns:a="http://schemas.openxmlformats.org/drawingml/2006/main">
              <a:ext uri="{FF2B5EF4-FFF2-40B4-BE49-F238E27FC236}">
                <a16:creationId xmlns:a16="http://schemas.microsoft.com/office/drawing/2014/main" id="{BE9C4C8E-75F0-4AFA-9F5E-26B15F5E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rPr>
              <a:t>方向可解释</a:t>
            </a:r>
          </a:p>
        </p:txBody>
      </p:sp>
      <p:sp>
        <p:nvSpPr>
          <p:cNvPr id="7" name="路径可继续">
            <a:extLst xmlns:a="http://schemas.openxmlformats.org/drawingml/2006/main">
              <a:ext uri="{FF2B5EF4-FFF2-40B4-BE49-F238E27FC236}">
                <a16:creationId xmlns:a16="http://schemas.microsoft.com/office/drawing/2014/main" id="{AEB9FBDC-5F62-4188-B7E5-204571BA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765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8DCCCB"/>
                </a:solidFill>
                <a:latin typeface="Microsoft YaHei"/>
                <a:ea typeface="Microsoft YaHei"/>
                <a:cs typeface="Microsoft YaHei"/>
              </a:rPr>
              <a:t>路径可继续</a:t>
            </a:r>
          </a:p>
        </p:txBody>
      </p:sp>
      <p:sp>
        <p:nvSpPr>
          <p:cNvPr id="8" name="风险控制结果发布">
            <a:extLst xmlns:a="http://schemas.openxmlformats.org/drawingml/2006/main">
              <a:ext uri="{FF2B5EF4-FFF2-40B4-BE49-F238E27FC236}">
                <a16:creationId xmlns:a16="http://schemas.microsoft.com/office/drawing/2014/main" id="{7F685486-948E-4A7E-BB93-85CB5887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rPr>
              <a:t>风险控制结果发布</a:t>
            </a:r>
          </a:p>
        </p:txBody>
      </p:sp>
      <p:sp>
        <p:nvSpPr>
          <p:cNvPr id="9" name="依据支持理解方向">
            <a:extLst xmlns:a="http://schemas.openxmlformats.org/drawingml/2006/main">
              <a:ext uri="{FF2B5EF4-FFF2-40B4-BE49-F238E27FC236}">
                <a16:creationId xmlns:a16="http://schemas.microsoft.com/office/drawing/2014/main" id="{09B15418-68AF-4E4F-9EB7-0C806A10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rPr>
              <a:t>依据支持理解方向</a:t>
            </a:r>
          </a:p>
        </p:txBody>
      </p:sp>
      <p:sp>
        <p:nvSpPr>
          <p:cNvPr id="10" name="城市资源承接行动">
            <a:extLst xmlns:a="http://schemas.openxmlformats.org/drawingml/2006/main">
              <a:ext uri="{FF2B5EF4-FFF2-40B4-BE49-F238E27FC236}">
                <a16:creationId xmlns:a16="http://schemas.microsoft.com/office/drawing/2014/main" id="{CEDFAC27-B054-4D5F-AE5E-D54651E4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rPr>
              <a:t>城市资源承接行动</a:t>
            </a:r>
          </a:p>
        </p:txBody>
      </p:sp>
      <p:sp>
        <p:nvSpPr>
          <p:cNvPr id="11" name="84 / 84 红旗样例检出  ·  急症漏报 0  ·">
            <a:extLst xmlns:a="http://schemas.openxmlformats.org/drawingml/2006/main">
              <a:ext uri="{FF2B5EF4-FFF2-40B4-BE49-F238E27FC236}">
                <a16:creationId xmlns:a16="http://schemas.microsoft.com/office/drawing/2014/main" id="{EA3BAC8B-DB9D-4462-8324-A1A0BBF7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0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1E8E5"/>
                </a:solidFill>
                <a:latin typeface="Microsoft YaHei"/>
                <a:ea typeface="Microsoft YaHei"/>
                <a:cs typeface="Microsoft YaHei"/>
              </a:rPr>
              <a:t>84 / 84 红旗样例检出  ·  急症漏报 0  ·  21 条医院目录  ·  2,100 条医生资料</a:t>
            </a:r>
          </a:p>
        </p:txBody>
      </p:sp>
    </p:spTree>
    <p:extLst>
      <p:ext uri="{BB962C8B-B14F-4D97-AF65-F5344CB8AC3E}">
        <p14:creationId xmlns:p14="http://schemas.microsoft.com/office/powerpoint/2010/main" val="12283439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附录 A · 离线公开文本评测">
            <a:extLst xmlns:a="http://schemas.openxmlformats.org/drawingml/2006/main">
              <a:ext uri="{FF2B5EF4-FFF2-40B4-BE49-F238E27FC236}">
                <a16:creationId xmlns:a16="http://schemas.microsoft.com/office/drawing/2014/main" id="{B2BAC9F2-B4A6-4BC7-85A4-FD2380AA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附录 A · 离线公开文本评测</a:t>
            </a:r>
          </a:p>
        </p:txBody>
      </p:sp>
      <p:sp>
        <p:nvSpPr>
          <p:cNvPr id="2" name="直接围绕科室标签组织分类研究">
            <a:extLst xmlns:a="http://schemas.openxmlformats.org/drawingml/2006/main">
              <a:ext uri="{FF2B5EF4-FFF2-40B4-BE49-F238E27FC236}">
                <a16:creationId xmlns:a16="http://schemas.microsoft.com/office/drawing/2014/main" id="{2A05549E-5956-4F88-82F2-02B326A4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直接围绕科室标签组织分类研究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5138F411-FA24-4D2C-AE35-9550E1B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CEAABC5D-F9CD-469E-84E5-59F4E511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94.25%">
            <a:extLst xmlns:a="http://schemas.openxmlformats.org/drawingml/2006/main">
              <a:ext uri="{FF2B5EF4-FFF2-40B4-BE49-F238E27FC236}">
                <a16:creationId xmlns:a16="http://schemas.microsoft.com/office/drawing/2014/main" id="{1E61DB26-A2D8-4711-A963-E5C4697A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94.25%</a:t>
            </a:r>
          </a:p>
        </p:txBody>
      </p:sp>
      <p:sp>
        <p:nvSpPr>
          <p:cNvPr id="6" name="科室分类 Acc">
            <a:extLst xmlns:a="http://schemas.openxmlformats.org/drawingml/2006/main">
              <a:ext uri="{FF2B5EF4-FFF2-40B4-BE49-F238E27FC236}">
                <a16:creationId xmlns:a16="http://schemas.microsoft.com/office/drawing/2014/main" id="{44394939-E1A5-4402-9C26-0CD5ACD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科室分类 Acc</a:t>
            </a:r>
          </a:p>
        </p:txBody>
      </p:sp>
      <p:sp>
        <p:nvSpPr>
          <p:cNvPr id="7" name="94.65%">
            <a:extLst xmlns:a="http://schemas.openxmlformats.org/drawingml/2006/main">
              <a:ext uri="{FF2B5EF4-FFF2-40B4-BE49-F238E27FC236}">
                <a16:creationId xmlns:a16="http://schemas.microsoft.com/office/drawing/2014/main" id="{5337BA12-EEDB-4E4C-A269-481A09EB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94.65%</a:t>
            </a:r>
          </a:p>
        </p:txBody>
      </p:sp>
      <p:sp>
        <p:nvSpPr>
          <p:cNvPr id="8" name="Macro-F1">
            <a:extLst xmlns:a="http://schemas.openxmlformats.org/drawingml/2006/main">
              <a:ext uri="{FF2B5EF4-FFF2-40B4-BE49-F238E27FC236}">
                <a16:creationId xmlns:a16="http://schemas.microsoft.com/office/drawing/2014/main" id="{A56C5A2E-E021-4CA2-B249-5EA4CDF6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Macro-F1</a:t>
            </a:r>
          </a:p>
        </p:txBody>
      </p:sp>
      <p:sp>
        <p:nvSpPr>
          <p:cNvPr id="9" name="0.0321">
            <a:extLst xmlns:a="http://schemas.openxmlformats.org/drawingml/2006/main">
              <a:ext uri="{FF2B5EF4-FFF2-40B4-BE49-F238E27FC236}">
                <a16:creationId xmlns:a16="http://schemas.microsoft.com/office/drawing/2014/main" id="{3F08690A-A015-4045-BEDF-46E5F99D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0.0321</a:t>
            </a:r>
          </a:p>
        </p:txBody>
      </p:sp>
      <p:sp>
        <p:nvSpPr>
          <p:cNvPr id="10" name="温度校准 ECE">
            <a:extLst xmlns:a="http://schemas.openxmlformats.org/drawingml/2006/main">
              <a:ext uri="{FF2B5EF4-FFF2-40B4-BE49-F238E27FC236}">
                <a16:creationId xmlns:a16="http://schemas.microsoft.com/office/drawing/2014/main" id="{5BB2EB4B-F5AA-4666-A540-3695A41B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温度校准 ECE</a:t>
            </a:r>
          </a:p>
        </p:txBody>
      </p:sp>
      <p:sp>
        <p:nvSpPr>
          <p:cNvPr id="11" name="1,289 行公开混合文本  /  5 seeds&#10;训练">
            <a:extLst xmlns:a="http://schemas.openxmlformats.org/drawingml/2006/main">
              <a:ext uri="{FF2B5EF4-FFF2-40B4-BE49-F238E27FC236}">
                <a16:creationId xmlns:a16="http://schemas.microsoft.com/office/drawing/2014/main" id="{E264167C-AB4D-4C37-8266-62A4DE4A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1,289 行公开混合文本  /  5 seeds</a:t>
            </a:r>
          </a:p>
          <a:p xmlns:a="http://schemas.openxmlformats.org/drawingml/2006/main">
            <a:pPr>
              <a:def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训练内嵌套选择表示与模型；校准集拟合输出参数</a:t>
            </a:r>
          </a:p>
        </p:txBody>
      </p:sp>
      <p:sp>
        <p:nvSpPr>
          <p:cNvPr id="12" name="Acc 标准差 2.00 个百分点 · 研究模型状态 R">
            <a:extLst xmlns:a="http://schemas.openxmlformats.org/drawingml/2006/main">
              <a:ext uri="{FF2B5EF4-FFF2-40B4-BE49-F238E27FC236}">
                <a16:creationId xmlns:a16="http://schemas.microsoft.com/office/drawing/2014/main" id="{AD401089-8902-4E92-B7D8-580C5415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Acc 标准差 2.00 个百分点 · 研究模型状态 RESEARCH_ONLY</a:t>
            </a:r>
          </a:p>
          <a:p xmlns:a="http://schemas.openxmlformats.org/drawingml/2006/main">
            <a:pPr>
              <a:def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产品安全状态由独立规则门负责</a:t>
            </a:r>
          </a:p>
        </p:txBody>
      </p:sp>
    </p:spTree>
    <p:extLst>
      <p:ext uri="{BB962C8B-B14F-4D97-AF65-F5344CB8AC3E}">
        <p14:creationId xmlns:p14="http://schemas.microsoft.com/office/powerpoint/2010/main" val="4915654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附录 B · 数据与评测协议">
            <a:extLst xmlns:a="http://schemas.openxmlformats.org/drawingml/2006/main">
              <a:ext uri="{FF2B5EF4-FFF2-40B4-BE49-F238E27FC236}">
                <a16:creationId xmlns:a16="http://schemas.microsoft.com/office/drawing/2014/main" id="{430EB0E9-340B-4339-8218-D970453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附录 B · 数据与评测协议</a:t>
            </a:r>
          </a:p>
        </p:txBody>
      </p:sp>
      <p:sp>
        <p:nvSpPr>
          <p:cNvPr id="2" name="训练、校准与测试承担不同职责">
            <a:extLst xmlns:a="http://schemas.openxmlformats.org/drawingml/2006/main">
              <a:ext uri="{FF2B5EF4-FFF2-40B4-BE49-F238E27FC236}">
                <a16:creationId xmlns:a16="http://schemas.microsoft.com/office/drawing/2014/main" id="{062F9E0A-0B1A-4B1B-A090-F17FD77B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训练、校准与测试承担不同职责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695797F4-9D79-42ED-9890-A3777E9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F481D22A-399F-4377-BAAC-E31AE0A5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4B05579-E8CF-4CEA-B8A7-D21D26B53E06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7143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a79b3930ca4703"/>
          </a:graphicData>
        </a:graphic>
      </p:graphicFrame>
      <p:sp>
        <p:nvSpPr>
          <p:cNvPr id="6" name="训练内选择">
            <a:extLst xmlns:a="http://schemas.openxmlformats.org/drawingml/2006/main">
              <a:ext uri="{FF2B5EF4-FFF2-40B4-BE49-F238E27FC236}">
                <a16:creationId xmlns:a16="http://schemas.microsoft.com/office/drawing/2014/main" id="{3257E530-E67C-46C3-A56D-B333156A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训练内选择</a:t>
            </a:r>
          </a:p>
        </p:txBody>
      </p:sp>
      <p:sp>
        <p:nvSpPr>
          <p:cNvPr id="7" name="确定表示与分类器">
            <a:extLst xmlns:a="http://schemas.openxmlformats.org/drawingml/2006/main">
              <a:ext uri="{FF2B5EF4-FFF2-40B4-BE49-F238E27FC236}">
                <a16:creationId xmlns:a16="http://schemas.microsoft.com/office/drawing/2014/main" id="{229F1A00-9AEB-47C1-8CD0-0246AEEE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确定表示与分类器</a:t>
            </a:r>
          </a:p>
        </p:txBody>
      </p:sp>
      <p:sp>
        <p:nvSpPr>
          <p:cNvPr id="8" name="校准集拟合">
            <a:extLst xmlns:a="http://schemas.openxmlformats.org/drawingml/2006/main">
              <a:ext uri="{FF2B5EF4-FFF2-40B4-BE49-F238E27FC236}">
                <a16:creationId xmlns:a16="http://schemas.microsoft.com/office/drawing/2014/main" id="{2AAC1B4B-9DA0-43FB-8E30-9A366086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校准集拟合</a:t>
            </a:r>
          </a:p>
        </p:txBody>
      </p:sp>
      <p:sp>
        <p:nvSpPr>
          <p:cNvPr id="9" name="确定校准参数与阈值">
            <a:extLst xmlns:a="http://schemas.openxmlformats.org/drawingml/2006/main">
              <a:ext uri="{FF2B5EF4-FFF2-40B4-BE49-F238E27FC236}">
                <a16:creationId xmlns:a16="http://schemas.microsoft.com/office/drawing/2014/main" id="{A5748A9A-8607-4D3C-9324-4DFA5811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确定校准参数与阈值</a:t>
            </a:r>
          </a:p>
        </p:txBody>
      </p:sp>
      <p:sp>
        <p:nvSpPr>
          <p:cNvPr id="10" name="测试集评估">
            <a:extLst xmlns:a="http://schemas.openxmlformats.org/drawingml/2006/main">
              <a:ext uri="{FF2B5EF4-FFF2-40B4-BE49-F238E27FC236}">
                <a16:creationId xmlns:a16="http://schemas.microsoft.com/office/drawing/2014/main" id="{94237F47-E30B-44A9-B246-5A4BB932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测试集评估</a:t>
            </a:r>
          </a:p>
        </p:txBody>
      </p:sp>
      <p:sp>
        <p:nvSpPr>
          <p:cNvPr id="11" name="记录既定协议的结果">
            <a:extLst xmlns:a="http://schemas.openxmlformats.org/drawingml/2006/main">
              <a:ext uri="{FF2B5EF4-FFF2-40B4-BE49-F238E27FC236}">
                <a16:creationId xmlns:a16="http://schemas.microsoft.com/office/drawing/2014/main" id="{98171AB0-5D44-4E6B-8A7B-40D7D5B7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记录既定协议的结果</a:t>
            </a:r>
          </a:p>
        </p:txBody>
      </p:sp>
      <p:sp>
        <p:nvSpPr>
          <p:cNvPr id="12" name="seed 42：1,289 行 · Jaccard 0.">
            <a:extLst xmlns:a="http://schemas.openxmlformats.org/drawingml/2006/main">
              <a:ext uri="{FF2B5EF4-FFF2-40B4-BE49-F238E27FC236}">
                <a16:creationId xmlns:a16="http://schemas.microsoft.com/office/drawing/2014/main" id="{DB5169AE-9AD0-4C76-8250-FD5CDE5A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seed 42：1,289 行 · Jaccard 0.8 · 测试 25 病种 · 近重复组件分组</a:t>
            </a:r>
          </a:p>
        </p:txBody>
      </p:sp>
    </p:spTree>
    <p:extLst>
      <p:ext uri="{BB962C8B-B14F-4D97-AF65-F5344CB8AC3E}">
        <p14:creationId xmlns:p14="http://schemas.microsoft.com/office/powerpoint/2010/main" val="11321821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附录 C · 来源索引">
            <a:extLst xmlns:a="http://schemas.openxmlformats.org/drawingml/2006/main">
              <a:ext uri="{FF2B5EF4-FFF2-40B4-BE49-F238E27FC236}">
                <a16:creationId xmlns:a16="http://schemas.microsoft.com/office/drawing/2014/main" id="{71C0591E-F0E6-4527-8160-6A2F1AD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附录 C · 来源索引</a:t>
            </a:r>
          </a:p>
        </p:txBody>
      </p:sp>
      <p:sp>
        <p:nvSpPr>
          <p:cNvPr id="2" name="核心证据与服务范围">
            <a:extLst xmlns:a="http://schemas.openxmlformats.org/drawingml/2006/main">
              <a:ext uri="{FF2B5EF4-FFF2-40B4-BE49-F238E27FC236}">
                <a16:creationId xmlns:a16="http://schemas.microsoft.com/office/drawing/2014/main" id="{7AA7DD0A-42E8-4C51-ACCB-3763DEF6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核心证据与服务范围</a:t>
            </a:r>
          </a:p>
        </p:txBody>
      </p:sp>
      <p:sp>
        <p:nvSpPr>
          <p:cNvPr id="3" name="辅助就医信息 · 不替代医生诊断、急救或处方">
            <a:extLst xmlns:a="http://schemas.openxmlformats.org/drawingml/2006/main">
              <a:ext uri="{FF2B5EF4-FFF2-40B4-BE49-F238E27FC236}">
                <a16:creationId xmlns:a16="http://schemas.microsoft.com/office/drawing/2014/main" id="{95B94F2E-2922-48B0-9515-91C41373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辅助就医信息 · 不替代医生诊断、急救或处方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95F2B80D-94BA-4407-AAC5-A98423F9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安全结果">
            <a:extLst xmlns:a="http://schemas.openxmlformats.org/drawingml/2006/main">
              <a:ext uri="{FF2B5EF4-FFF2-40B4-BE49-F238E27FC236}">
                <a16:creationId xmlns:a16="http://schemas.microsoft.com/office/drawing/2014/main" id="{4B19FFE9-ED63-49A6-93D5-24256779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安全结果</a:t>
            </a:r>
          </a:p>
        </p:txBody>
      </p:sp>
      <p:sp>
        <p:nvSpPr>
          <p:cNvPr id="6" name="Safety 固定样例与当前评估程序&#10;142 例构成、红">
            <a:extLst xmlns:a="http://schemas.openxmlformats.org/drawingml/2006/main">
              <a:ext uri="{FF2B5EF4-FFF2-40B4-BE49-F238E27FC236}">
                <a16:creationId xmlns:a16="http://schemas.microsoft.com/office/drawing/2014/main" id="{6248CD76-E927-41B7-A295-3BB745FE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Safety 固定样例与当前评估程序</a:t>
            </a:r>
          </a:p>
          <a:p xmlns:a="http://schemas.openxmlformats.org/drawingml/2006/main">
            <a: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142 例构成、红旗检出、发布状态</a:t>
            </a:r>
          </a:p>
        </p:txBody>
      </p:sp>
      <p:sp>
        <p:nvSpPr>
          <p:cNvPr id="7" name="路径能力">
            <a:extLst xmlns:a="http://schemas.openxmlformats.org/drawingml/2006/main">
              <a:ext uri="{FF2B5EF4-FFF2-40B4-BE49-F238E27FC236}">
                <a16:creationId xmlns:a16="http://schemas.microsoft.com/office/drawing/2014/main" id="{AE6FE290-D9B2-4A75-8933-490B119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路径能力</a:t>
            </a:r>
          </a:p>
        </p:txBody>
      </p:sp>
      <p:sp>
        <p:nvSpPr>
          <p:cNvPr id="8" name="当前网站合成案例与 API 行为契约&#10;分诊、资源策略、科">
            <a:extLst xmlns:a="http://schemas.openxmlformats.org/drawingml/2006/main">
              <a:ext uri="{FF2B5EF4-FFF2-40B4-BE49-F238E27FC236}">
                <a16:creationId xmlns:a16="http://schemas.microsoft.com/office/drawing/2014/main" id="{3637DCAB-B907-49F5-B747-F865F24E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当前网站合成案例与 API 行为契约</a:t>
            </a:r>
          </a:p>
          <a:p xmlns:a="http://schemas.openxmlformats.org/drawingml/2006/main">
            <a: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分诊、资源策略、科室方向、地图入口</a:t>
            </a:r>
          </a:p>
        </p:txBody>
      </p:sp>
      <p:sp>
        <p:nvSpPr>
          <p:cNvPr id="9" name="研究与数据">
            <a:extLst xmlns:a="http://schemas.openxmlformats.org/drawingml/2006/main">
              <a:ext uri="{FF2B5EF4-FFF2-40B4-BE49-F238E27FC236}">
                <a16:creationId xmlns:a16="http://schemas.microsoft.com/office/drawing/2014/main" id="{1E54486A-41E6-4EDE-AE12-FF0D7AF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7A"/>
                </a:solidFill>
                <a:latin typeface="Microsoft YaHei"/>
                <a:ea typeface="Microsoft YaHei"/>
                <a:cs typeface="Microsoft YaHei"/>
              </a:rPr>
              <a:t>研究与数据</a:t>
            </a:r>
          </a:p>
        </p:txBody>
      </p:sp>
      <p:sp>
        <p:nvSpPr>
          <p:cNvPr id="10" name="Core Exploration 主流程与分组协议&#10;常州">
            <a:extLst xmlns:a="http://schemas.openxmlformats.org/drawingml/2006/main">
              <a:ext uri="{FF2B5EF4-FFF2-40B4-BE49-F238E27FC236}">
                <a16:creationId xmlns:a16="http://schemas.microsoft.com/office/drawing/2014/main" id="{F6C71E11-F7D6-4D97-A7C7-CF6C27B9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6247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Core Exploration 主流程与分组协议</a:t>
            </a:r>
          </a:p>
          <a:p xmlns:a="http://schemas.openxmlformats.org/drawingml/2006/main">
            <a:pPr>
              <a:def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32"/>
                </a:solidFill>
                <a:latin typeface="Microsoft YaHei"/>
                <a:ea typeface="Microsoft YaHei"/>
                <a:cs typeface="Microsoft YaHei"/>
              </a:rPr>
              <a:t>常州目录、资源来源及版本记录</a:t>
            </a:r>
          </a:p>
        </p:txBody>
      </p:sp>
      <p:sp>
        <p:nvSpPr>
          <p:cNvPr id="11" name="产品：就医辅助  /  研究：公开文本分类  /  资源">
            <a:extLst xmlns:a="http://schemas.openxmlformats.org/drawingml/2006/main">
              <a:ext uri="{FF2B5EF4-FFF2-40B4-BE49-F238E27FC236}">
                <a16:creationId xmlns:a16="http://schemas.microsoft.com/office/drawing/2014/main" id="{ECA649C2-6638-4C85-8F70-5619BD31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7075"/>
                </a:solidFill>
                <a:latin typeface="Microsoft YaHei"/>
                <a:ea typeface="Microsoft YaHei"/>
                <a:cs typeface="Microsoft YaHei"/>
              </a:rPr>
              <a:t>产品：就医辅助  /  研究：公开文本分类  /  资源：城市目录记录</a:t>
            </a:r>
          </a:p>
        </p:txBody>
      </p:sp>
    </p:spTree>
    <p:extLst>
      <p:ext uri="{BB962C8B-B14F-4D97-AF65-F5344CB8AC3E}">
        <p14:creationId xmlns:p14="http://schemas.microsoft.com/office/powerpoint/2010/main" val="972152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2026-10-22T03:09:51.1670000Z</dcterms:created>
  <dcterms:modified xsi:type="dcterms:W3CDTF">2026-10-22T03:09:51.1670000Z</dcterms:modified>
</coreProperties>
</file>