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f3283ff84245a7" /><Relationship Type="http://schemas.openxmlformats.org/officeDocument/2006/relationships/extended-properties" Target="/docProps/app.xml" Id="Rf5c9a87dcfde4d28" /><Relationship Type="http://schemas.openxmlformats.org/officeDocument/2006/relationships/officeDocument" Target="/ppt/presentation.xml" Id="R6d65ae4b4b534d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c5cfed28e6479b"/>
  </p:sldMasterIdLst>
  <p:notesMasterIdLst>
    <p:notesMasterId xmlns:r="http://schemas.openxmlformats.org/officeDocument/2006/relationships" r:id="R5eca553823284f15"/>
  </p:notesMasterIdLst>
  <p:sldIdLst>
    <p:sldId xmlns:r="http://schemas.openxmlformats.org/officeDocument/2006/relationships" id="256" r:id="R37ab018fb08e476f"/>
    <p:sldId xmlns:r="http://schemas.openxmlformats.org/officeDocument/2006/relationships" id="257" r:id="R72e5554b1dc54dd9"/>
    <p:sldId xmlns:r="http://schemas.openxmlformats.org/officeDocument/2006/relationships" id="258" r:id="R28497d84d61a466d"/>
    <p:sldId xmlns:r="http://schemas.openxmlformats.org/officeDocument/2006/relationships" id="259" r:id="R387f25538ec748a8"/>
    <p:sldId xmlns:r="http://schemas.openxmlformats.org/officeDocument/2006/relationships" id="260" r:id="R2bf09d8351dc4645"/>
    <p:sldId xmlns:r="http://schemas.openxmlformats.org/officeDocument/2006/relationships" id="261" r:id="R425e1fb1ea494894"/>
    <p:sldId xmlns:r="http://schemas.openxmlformats.org/officeDocument/2006/relationships" id="262" r:id="R3199085a9cfe45a4"/>
    <p:sldId xmlns:r="http://schemas.openxmlformats.org/officeDocument/2006/relationships" id="263" r:id="Rb83c6cd630c74e36"/>
    <p:sldId xmlns:r="http://schemas.openxmlformats.org/officeDocument/2006/relationships" id="264" r:id="R03d281cb7b954183"/>
    <p:sldId xmlns:r="http://schemas.openxmlformats.org/officeDocument/2006/relationships" id="265" r:id="R1cb04fb4111a4cfe"/>
    <p:sldId xmlns:r="http://schemas.openxmlformats.org/officeDocument/2006/relationships" id="266" r:id="Rab107368db6a4962"/>
    <p:sldId xmlns:r="http://schemas.openxmlformats.org/officeDocument/2006/relationships" id="267" r:id="Rb21c084ac2b7408d"/>
    <p:sldId xmlns:r="http://schemas.openxmlformats.org/officeDocument/2006/relationships" id="268" r:id="R25154afb8cda4bfa"/>
    <p:sldId xmlns:r="http://schemas.openxmlformats.org/officeDocument/2006/relationships" id="269" r:id="R5e76552e23754b91"/>
    <p:sldId xmlns:r="http://schemas.openxmlformats.org/officeDocument/2006/relationships" id="270" r:id="Ref81e4b8177449c7"/>
    <p:sldId xmlns:r="http://schemas.openxmlformats.org/officeDocument/2006/relationships" id="271" r:id="R2f1d589a470e4221"/>
    <p:sldId xmlns:r="http://schemas.openxmlformats.org/officeDocument/2006/relationships" id="272" r:id="Red8de5518ecd40fe"/>
    <p:sldId xmlns:r="http://schemas.openxmlformats.org/officeDocument/2006/relationships" id="273" r:id="Rf40bf922189d4d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933921ebe343f9" /><Relationship Type="http://schemas.openxmlformats.org/officeDocument/2006/relationships/slideMaster" Target="/ppt/slideMasters/slideMaster1.xml" Id="Ra4c5cfed28e6479b" /><Relationship Type="http://schemas.openxmlformats.org/officeDocument/2006/relationships/notesMaster" Target="/ppt/notesMasters/notesMaster1.xml" Id="R5eca553823284f15" /><Relationship Type="http://schemas.openxmlformats.org/officeDocument/2006/relationships/presProps" Target="/ppt/presProps.xml" Id="R0eb29f60a1774696" /><Relationship Type="http://schemas.openxmlformats.org/officeDocument/2006/relationships/tableStyles" Target="/ppt/tableStyles.xml" Id="R83832b472b774ab5" /><Relationship Type="http://schemas.openxmlformats.org/officeDocument/2006/relationships/slide" Target="/ppt/slides/slide1.xml" Id="R37ab018fb08e476f" /><Relationship Type="http://schemas.openxmlformats.org/officeDocument/2006/relationships/slide" Target="/ppt/slides/slide2.xml" Id="R72e5554b1dc54dd9" /><Relationship Type="http://schemas.openxmlformats.org/officeDocument/2006/relationships/slide" Target="/ppt/slides/slide3.xml" Id="R28497d84d61a466d" /><Relationship Type="http://schemas.openxmlformats.org/officeDocument/2006/relationships/slide" Target="/ppt/slides/slide4.xml" Id="R387f25538ec748a8" /><Relationship Type="http://schemas.openxmlformats.org/officeDocument/2006/relationships/slide" Target="/ppt/slides/slide5.xml" Id="R2bf09d8351dc4645" /><Relationship Type="http://schemas.openxmlformats.org/officeDocument/2006/relationships/slide" Target="/ppt/slides/slide6.xml" Id="R425e1fb1ea494894" /><Relationship Type="http://schemas.openxmlformats.org/officeDocument/2006/relationships/slide" Target="/ppt/slides/slide7.xml" Id="R3199085a9cfe45a4" /><Relationship Type="http://schemas.openxmlformats.org/officeDocument/2006/relationships/slide" Target="/ppt/slides/slide8.xml" Id="Rb83c6cd630c74e36" /><Relationship Type="http://schemas.openxmlformats.org/officeDocument/2006/relationships/slide" Target="/ppt/slides/slide9.xml" Id="R03d281cb7b954183" /><Relationship Type="http://schemas.openxmlformats.org/officeDocument/2006/relationships/slide" Target="/ppt/slides/slide10.xml" Id="R1cb04fb4111a4cfe" /><Relationship Type="http://schemas.openxmlformats.org/officeDocument/2006/relationships/slide" Target="/ppt/slides/slide11.xml" Id="Rab107368db6a4962" /><Relationship Type="http://schemas.openxmlformats.org/officeDocument/2006/relationships/slide" Target="/ppt/slides/slide12.xml" Id="Rb21c084ac2b7408d" /><Relationship Type="http://schemas.openxmlformats.org/officeDocument/2006/relationships/slide" Target="/ppt/slides/slide13.xml" Id="R25154afb8cda4bfa" /><Relationship Type="http://schemas.openxmlformats.org/officeDocument/2006/relationships/slide" Target="/ppt/slides/slide14.xml" Id="R5e76552e23754b91" /><Relationship Type="http://schemas.openxmlformats.org/officeDocument/2006/relationships/slide" Target="/ppt/slides/slide15.xml" Id="Ref81e4b8177449c7" /><Relationship Type="http://schemas.openxmlformats.org/officeDocument/2006/relationships/slide" Target="/ppt/slides/slide16.xml" Id="R2f1d589a470e4221" /><Relationship Type="http://schemas.openxmlformats.org/officeDocument/2006/relationships/slide" Target="/ppt/slides/slide17.xml" Id="Red8de5518ecd40fe" /><Relationship Type="http://schemas.openxmlformats.org/officeDocument/2006/relationships/slide" Target="/ppt/slides/slide18.xml" Id="Rf40bf922189d4d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ffcc4e549d47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1a80f9b0a8402c" /><Relationship Type="http://schemas.openxmlformats.org/officeDocument/2006/relationships/notesMaster" Target="/ppt/notesMasters/notesMaster1.xml" Id="R3fdddf4649a04e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a300246da54e71" /><Relationship Type="http://schemas.openxmlformats.org/officeDocument/2006/relationships/notesMaster" Target="/ppt/notesMasters/notesMaster1.xml" Id="R065a7c08a7b448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18238cda9343b8" /><Relationship Type="http://schemas.openxmlformats.org/officeDocument/2006/relationships/notesMaster" Target="/ppt/notesMasters/notesMaster1.xml" Id="Rfc4ad6d0730349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778867fecb42a5" /><Relationship Type="http://schemas.openxmlformats.org/officeDocument/2006/relationships/notesMaster" Target="/ppt/notesMasters/notesMaster1.xml" Id="R3b66b41b06764c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96584308c04d55" /><Relationship Type="http://schemas.openxmlformats.org/officeDocument/2006/relationships/notesMaster" Target="/ppt/notesMasters/notesMaster1.xml" Id="Rf31b375ed02647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e2d3ebfe01408a" /><Relationship Type="http://schemas.openxmlformats.org/officeDocument/2006/relationships/notesMaster" Target="/ppt/notesMasters/notesMaster1.xml" Id="R2b7734532f2245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9c6ee297014732" /><Relationship Type="http://schemas.openxmlformats.org/officeDocument/2006/relationships/notesMaster" Target="/ppt/notesMasters/notesMaster1.xml" Id="R19a14a31bd1b46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b1b086fa4e4e4f" /><Relationship Type="http://schemas.openxmlformats.org/officeDocument/2006/relationships/notesMaster" Target="/ppt/notesMasters/notesMaster1.xml" Id="R8f56dd223a184c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c20ad8ff974ab6" /><Relationship Type="http://schemas.openxmlformats.org/officeDocument/2006/relationships/notesMaster" Target="/ppt/notesMasters/notesMaster1.xml" Id="Rb185ee41985d43f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c05244869d462d" /><Relationship Type="http://schemas.openxmlformats.org/officeDocument/2006/relationships/notesMaster" Target="/ppt/notesMasters/notesMaster1.xml" Id="R0b74a4e60eb646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9704d8d7ee74c1f" /><Relationship Type="http://schemas.openxmlformats.org/officeDocument/2006/relationships/notesMaster" Target="/ppt/notesMasters/notesMaster1.xml" Id="R6e25902a87c146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29d9ca47754eb0" /><Relationship Type="http://schemas.openxmlformats.org/officeDocument/2006/relationships/notesMaster" Target="/ppt/notesMasters/notesMaster1.xml" Id="R7b3838a5ee20440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47ea7318a4b4914" /><Relationship Type="http://schemas.openxmlformats.org/officeDocument/2006/relationships/notesMaster" Target="/ppt/notesMasters/notesMaster1.xml" Id="R0be49251c0a04c2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c45402c0c294903" /><Relationship Type="http://schemas.openxmlformats.org/officeDocument/2006/relationships/notesMaster" Target="/ppt/notesMasters/notesMaster1.xml" Id="R014d8aa0513146f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b00994b128c4f48" /><Relationship Type="http://schemas.openxmlformats.org/officeDocument/2006/relationships/notesMaster" Target="/ppt/notesMasters/notesMaster1.xml" Id="Rb80056b2e6d844a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2804ca0982e4f10" /><Relationship Type="http://schemas.openxmlformats.org/officeDocument/2006/relationships/notesMaster" Target="/ppt/notesMasters/notesMaster1.xml" Id="R91f09def9b7f4fe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cd28e3f6e16402e" /><Relationship Type="http://schemas.openxmlformats.org/officeDocument/2006/relationships/notesMaster" Target="/ppt/notesMasters/notesMaster1.xml" Id="Rfc31c67f7fa4401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d92a937ac8148a9" /><Relationship Type="http://schemas.openxmlformats.org/officeDocument/2006/relationships/notesMaster" Target="/ppt/notesMasters/notesMaster1.xml" Id="R9a4c621cb8ae4c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开场约25秒。我们解决就医之前如何行动的问题：先辨别风险，再把主诉连接到科室方向与本地资源。当前为常州场景原型，所有输出都是辅助信息。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docs/competition/2026-ai-medical/COMPETITION_BRIEF.md</a:t>
            </a:r>
          </a:p>
          <a:p xmlns:a="http://schemas.openxmlformats.org/drawingml/2006/main">
            <a:r>
              <a:t>• AGENTS.md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约35秒。这些需求来自产品任务拆解和场景推演，尚未执行一手访谈，不能据此宣称已证实用户效率提升。系统把四次判断连接为可继续操作的流程。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参赛资料/TECHNICAL_REPORT_OUTLINE.md §3 需求分析</a:t>
            </a:r>
          </a:p>
          <a:p xmlns:a="http://schemas.openxmlformats.org/drawingml/2006/main">
            <a:r>
              <a:t>• docs/competition/2026-ai-medical/DEMAND_RESEARCH_PLAN.md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约35秒。这里使用2026年10月22日当前网站的真实截图。主诉进入后端统一安全判断，再展开资源路径。目标用户是场景定位，尚无招募或试点效果数据。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frontend/src/pages/HomePage.tsx</a:t>
            </a:r>
          </a:p>
          <a:p xmlns:a="http://schemas.openxmlformats.org/drawingml/2006/main">
            <a:r>
              <a:t>• 2026-10-22 本地网站首页截图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40秒。合成主诉只用于展示系统行为，不是真实病例。本轮浏览器请求确认状态为EMERGENCY。安全门短路普通推荐；界面所列急诊资源仅为目录信息，并不代表实时接诊能力。不要把示例行为推广成临床安全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2026-10-22 本地浏览器 emergency 演示请求</a:t>
            </a:r>
          </a:p>
          <a:p xmlns:a="http://schemas.openxmlformats.org/drawingml/2006/main">
            <a:r>
              <a:t>• backend/app/domain/</a:t>
            </a:r>
          </a:p>
          <a:p xmlns:a="http://schemas.openxmlformats.org/drawingml/2006/main">
            <a:r>
              <a:t>• AGENTS.md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约30秒。第二个合成示例说明系统不会从年龄和性别单独推导疾病或科室。本轮真实请求核对到INSUFFICIENT_INFORMATION、空科室和空疾病候选。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2026-10-22 本地浏览器 info 演示请求</a:t>
            </a:r>
          </a:p>
          <a:p xmlns:a="http://schemas.openxmlformats.org/drawingml/2006/main">
            <a:r>
              <a:t>• frontend/e2e/demographic-only-input.spec.mjs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约40秒。四个发布状态是EMERGENCY、URGENT、ROUTINE、INSUFFICIENT_INFORMATION。规则首先处理当前性、否定、主体与风险语境。普通方向仅表示可以继续了解，不是排除风险的医学结论。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backend/app/domain/</a:t>
            </a:r>
          </a:p>
          <a:p xmlns:a="http://schemas.openxmlformats.org/drawingml/2006/main">
            <a:r>
              <a:t>• docs/competition/2026-ai-medical/SAFETY_CARD.md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40秒。当前部署是Flask服务React构建产物，前端只调用/api/v1。安全层、资源层与模型适配器分工明确。下面的char-LR与嵌套模型是离线研究证据，不能描述为已上线的中文分诊能力。CPU可运行来自本地服务与稀疏模型实现，不代表已测得性能优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docs/architecture/current-state.md</a:t>
            </a:r>
          </a:p>
          <a:p xmlns:a="http://schemas.openxmlformats.org/drawingml/2006/main">
            <a:r>
              <a:t>• requirements.txt</a:t>
            </a:r>
          </a:p>
          <a:p xmlns:a="http://schemas.openxmlformats.org/drawingml/2006/main">
            <a:r>
              <a:t>• docs/algorithm/CORE_EXPLORATION_REPORT.md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45秒。图表采用修复预测器身份后的Round4表示消融，不使用已废弃的74.2%。char-LR的平均准确率为0.608179，标准差0.034233；Macro-F1为0.404872，Top-2为0.762639。seeds为42、123、2026、3407、7777。NB是模型对照，其余为LR表示对照。字符表示针对症状码拼接，不是中文口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evaluation/care_routing/results/round4_representation_ablation.json</a:t>
            </a:r>
          </a:p>
          <a:p xmlns:a="http://schemas.openxmlformats.org/drawingml/2006/main">
            <a:r>
              <a:t>• evaluation/care_routing/results/round4_report.json</a:t>
            </a:r>
          </a:p>
          <a:p xmlns:a="http://schemas.openxmlformats.org/drawingml/2006/main">
            <a:r>
              <a:t>• evaluation/competition/evidence_index.json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约35秒。1289来自扩展公开文本集，304条结构化症状样本构成另一数据视角，不能称临床病例。seed42为840/236/213；其他seed大小可变。近重复阈值0.8，同标签组件配额划分；25病种测试覆盖并非41病种完整验证。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evaluation/care_routing/results/round4_report.json dataset/split_meta_seed42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40秒。横轴是各目标阈值下的实际coverage，非等距散点。80%目标时实际保留162/213，覆盖0.760563，准确率0.740741。所有阈值只从校准集选择，T=0.7。本研究说明拒答的取舍，没有达成80%覆盖目标。不能据较高保留准确率宣称整体准确率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evaluation/care_routing/results/round4_selective_routing.json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35秒。当前网站本例返回ROUTINE与皮肤科方向，同时疾病模型报告no_supported_symptoms并拒答。页面因此保留疾病模型能力边界，科室路径可以继续。这是真实UI示例，不暗示已识别疾病。资料详情和地图入口提供后续行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2026-10-22 本地浏览器 routine 请求与截图</a:t>
            </a:r>
          </a:p>
          <a:p xmlns:a="http://schemas.openxmlformats.org/drawingml/2006/main">
            <a:r>
              <a:t>• frontend/e2e/product-smoke.spec.mjs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约35秒。本地资源加载日志确认2100条医生、194科室、11家医院有医生资料；医院catalog record_count为21。数量只代表目录记录，不代表合作、认证、用户量或实时可挂号。医院目录当前provisional且许可未登记，交通目录质量同样provisional，不进入可信排行。截图为当前网站地图。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data/regions/320400/hospitals/catalog.json</a:t>
            </a:r>
          </a:p>
          <a:p xmlns:a="http://schemas.openxmlformats.org/drawingml/2006/main">
            <a:r>
              <a:t>• 2026-10-22 本地应用资源加载日志</a:t>
            </a:r>
          </a:p>
          <a:p xmlns:a="http://schemas.openxmlformats.org/drawingml/2006/main">
            <a:r>
              <a:t>• data_validation/data_quality_report.json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约40秒。本轮从当前源码复跑evaluate_cases，142例中EMERGENCY84、URGENT29、ROUTINE22、INFO7；红旗召回1.0、under0、over0、FN0，review_required为空。固定样例开发与回归不独立，不能替代独立临床试验。项目既有1043 pytest、22前端测试和108浏览器用例的2026-10-22记录，本次PPT制作未重复全量执行，故不作为本轮新增成绩。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evaluation/safety/evaluate_safety.py</a:t>
            </a:r>
          </a:p>
          <a:p xmlns:a="http://schemas.openxmlformats.org/drawingml/2006/main">
            <a:r>
              <a:t>• evaluation/safety/safety_cases.json</a:t>
            </a:r>
          </a:p>
          <a:p xmlns:a="http://schemas.openxmlformats.org/drawingml/2006/main">
            <a:r>
              <a:t>• 2026-10-22 当前源码 Safety 复跑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40秒。这是本作品的系统设计贡献，不宣称首创算法或已超越所有同类产品。相比只给病名的交互，本作品把就医方向作为路径中间层；相比单独资源检索，加入安全状态与数据可信度约束。实际优势还需通过任务对照研究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docs/competition/2026-ai-medical/COMPETITION_BRIEF.md</a:t>
            </a:r>
          </a:p>
          <a:p xmlns:a="http://schemas.openxmlformats.org/drawingml/2006/main">
            <a:r>
              <a:t>• docs/architecture/current-state.md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35秒。阶段顺序是建议路线，不是已签约承诺；没有编造完成日期、合作医院、市场规模或收益数字。独立中文标签、来源许可和一手调研是当前实质缺口。结束主讲时强调：让居民在不确定时也能得到有边界的下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docs/competition/2026-ai-medical/SUBMISSION_GAP.md</a:t>
            </a:r>
          </a:p>
          <a:p xmlns:a="http://schemas.openxmlformats.org/drawingml/2006/main">
            <a:r>
              <a:t>• docs/competition/2026-ai-medical/DEMAND_RESEARCH_PLAN.md</a:t>
            </a:r>
          </a:p>
          <a:p xmlns:a="http://schemas.openxmlformats.org/drawingml/2006/main">
            <a:r>
              <a:t>• docs/algorithm/CORE_COMPLETION_CURRENT.md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备答约45秒。这里是另一套主流程，不能与Round4固定char-LR当成同一算法口径混列。seeds42/123/2026/3407/7777，outer near-dup quota，train-inner验证macro-F1后accuracy选择表示/模型；test约213–241行。source transfer为五seed每个test489。完整304条症状-only grouped CV：binary61.51%、word60.86%、segmented-char53.29%。低组件病种覆盖缺口仍在。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evaluation/core_exploration/results/summary.json</a:t>
            </a:r>
          </a:p>
          <a:p xmlns:a="http://schemas.openxmlformats.org/drawingml/2006/main">
            <a:r>
              <a:t>• docs/algorithm/CORE_EXPLORATION_REPORT.md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备答。追问是grouped模拟，不是真实问诊；IG与frequency差值由未四舍五入原值约0.43pp，按展示值相减可见0.44pp，因此口头只说不到半个百分点。当前Round4 confusion中呼吸内科召回为0，不能用总体准确率掩盖弱类。旧74.2%等不可复现口径已废弃。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evaluation/core_exploration/results/summary.json (inquiry)</a:t>
            </a:r>
          </a:p>
          <a:p xmlns:a="http://schemas.openxmlformats.org/drawingml/2006/main">
            <a:r>
              <a:t>• evaluation/care_routing/results/round4_department_confusion.json</a:t>
            </a:r>
          </a:p>
          <a:p xmlns:a="http://schemas.openxmlformats.org/drawingml/2006/main">
            <a:r>
              <a:t>• evaluation/care_routing/results/round4_selective_routing.json</a:t>
            </a:r>
          </a:p>
          <a:p xmlns:a="http://schemas.openxmlformats.org/drawingml/2006/main">
            <a:r>
              <a:t>• 参赛资料/TECHNICAL_REPORT_OUTLINE.md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材料来源索引。完整路径和指标分母记录于本页及各页演讲者备注。公开混合文本来源由Round4 dataset.provenance登记，含Hugging Face的shanover/disease_symptoms_prec_full与fhai50032/Symptoms_to_disease_7k，其许可是仓库记录口径，未在本轮重新在线核验；本PPT不再分发这些原始语料。产品界面截图由本轮在本机生成。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• 参赛资料/official-rules.pdf</a:t>
            </a:r>
          </a:p>
          <a:p xmlns:a="http://schemas.openxmlformats.org/drawingml/2006/main">
            <a:r>
              <a:t>• evaluation/care_routing/results/round4_report.json</a:t>
            </a:r>
          </a:p>
          <a:p xmlns:a="http://schemas.openxmlformats.org/drawingml/2006/main">
            <a:r>
              <a:t>• evaluation/care_routing/results/round4_representation_ablation.json</a:t>
            </a:r>
          </a:p>
          <a:p xmlns:a="http://schemas.openxmlformats.org/drawingml/2006/main">
            <a:r>
              <a:t>• evaluation/care_routing/results/round4_selective_routing.json</a:t>
            </a:r>
          </a:p>
          <a:p xmlns:a="http://schemas.openxmlformats.org/drawingml/2006/main">
            <a:r>
              <a:t>• evaluation/core_exploration/results/summary.json</a:t>
            </a:r>
          </a:p>
          <a:p xmlns:a="http://schemas.openxmlformats.org/drawingml/2006/main">
            <a:r>
              <a:t>• evaluation/safety/safety_cases.json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3bb9fd059b49b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57bfe304a34ea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9b062cf3be4e8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bd6030165149c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26435cabab4fa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3868e9413a43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04972C-BA6D-4AD7-9AE5-8BE0835492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3E43441-38FC-460A-929D-B2B9B137033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A19930E-52C5-4031-9892-905D4C130F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3C1D89E-1988-4D3E-A0FE-C24BE16EF5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4F92298-A3B8-47CD-B50D-2F3C78E8EF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930C81A-06C5-4503-9F9B-B0008AF43F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6531050-F3DF-41BA-BEEF-098B96AB70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27D3A65-8E28-414A-B3FA-4807CD8784D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12102AB-3C9A-455F-8EDC-3CD4E26D70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8095A12-11F0-493E-9AC3-91B8C914E5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3fb2f04b3a4800" /><Relationship Type="http://schemas.openxmlformats.org/officeDocument/2006/relationships/slideLayout" Target="/ppt/slideLayouts/slideLayout1.xml" Id="R60228b880dde4779" /><Relationship Type="http://schemas.openxmlformats.org/officeDocument/2006/relationships/slideLayout" Target="/ppt/slideLayouts/slideLayout2.xml" Id="Rb0a48946e7dd4b11" /><Relationship Type="http://schemas.openxmlformats.org/officeDocument/2006/relationships/slideLayout" Target="/ppt/slideLayouts/slideLayout3.xml" Id="R845b2154d957433e" /><Relationship Type="http://schemas.openxmlformats.org/officeDocument/2006/relationships/slideLayout" Target="/ppt/slideLayouts/slideLayout4.xml" Id="Rd8111bcd37c14f32" /><Relationship Type="http://schemas.openxmlformats.org/officeDocument/2006/relationships/slideLayout" Target="/ppt/slideLayouts/slideLayout5.xml" Id="Rf417ce4b11da4674" /><Relationship Type="http://schemas.openxmlformats.org/officeDocument/2006/relationships/slideLayout" Target="/ppt/slideLayouts/slideLayout6.xml" Id="R32426d09da474c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228b880dde4779"/>
    <p:sldLayoutId xmlns:r="http://schemas.openxmlformats.org/officeDocument/2006/relationships" id="2147483650" r:id="Rb0a48946e7dd4b11"/>
    <p:sldLayoutId xmlns:r="http://schemas.openxmlformats.org/officeDocument/2006/relationships" id="2147483651" r:id="R845b2154d957433e"/>
    <p:sldLayoutId xmlns:r="http://schemas.openxmlformats.org/officeDocument/2006/relationships" id="2147483652" r:id="Rd8111bcd37c14f32"/>
    <p:sldLayoutId xmlns:r="http://schemas.openxmlformats.org/officeDocument/2006/relationships" id="2147483653" r:id="Rf417ce4b11da4674"/>
    <p:sldLayoutId xmlns:r="http://schemas.openxmlformats.org/officeDocument/2006/relationships" id="2147483654" r:id="R32426d09da474c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637cf5c72d4fa2" /><Relationship Type="http://schemas.openxmlformats.org/officeDocument/2006/relationships/notesSlide" Target="/ppt/notesSlides/notesSlide1.xml" Id="R58237559913a42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80e9525f0e44e2" /><Relationship Type="http://schemas.openxmlformats.org/officeDocument/2006/relationships/notesSlide" Target="/ppt/notesSlides/notesSlide2.xml" Id="Rd902ffb554da48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ce4652d003438e" /><Relationship Type="http://schemas.openxmlformats.org/officeDocument/2006/relationships/image" Target="/ppt/media/image.png" Id="Rcc313a1002f04509" /><Relationship Type="http://schemas.openxmlformats.org/officeDocument/2006/relationships/notesSlide" Target="/ppt/notesSlides/notesSlide3.xml" Id="R04da4e75e49d49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2e201842fd4694" /><Relationship Type="http://schemas.openxmlformats.org/officeDocument/2006/relationships/image" Target="/ppt/media/image2.png" Id="Rfd9fac911c6445c1" /><Relationship Type="http://schemas.openxmlformats.org/officeDocument/2006/relationships/notesSlide" Target="/ppt/notesSlides/notesSlide4.xml" Id="R10ad2b0d96f048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21950b6d474793" /><Relationship Type="http://schemas.openxmlformats.org/officeDocument/2006/relationships/image" Target="/ppt/media/image3.png" Id="R979dc2170a6248f4" /><Relationship Type="http://schemas.openxmlformats.org/officeDocument/2006/relationships/notesSlide" Target="/ppt/notesSlides/notesSlide5.xml" Id="R3a5751070e6341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bfaf4d0b6f487f" /><Relationship Type="http://schemas.openxmlformats.org/officeDocument/2006/relationships/notesSlide" Target="/ppt/notesSlides/notesSlide6.xml" Id="R07de87cd117143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8149ce50244e0b" /><Relationship Type="http://schemas.openxmlformats.org/officeDocument/2006/relationships/notesSlide" Target="/ppt/notesSlides/notesSlide7.xml" Id="R0eab3d74cdfa4e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c108ed19284662" /><Relationship Type="http://schemas.openxmlformats.org/officeDocument/2006/relationships/chart" Target="/ppt/slides/charts/chart1.xml" Id="Rb2a0a667c24a4ab0" /><Relationship Type="http://schemas.openxmlformats.org/officeDocument/2006/relationships/notesSlide" Target="/ppt/notesSlides/notesSlide8.xml" Id="Re75776d75b1a4e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670a774d1b4382" /><Relationship Type="http://schemas.openxmlformats.org/officeDocument/2006/relationships/notesSlide" Target="/ppt/notesSlides/notesSlide9.xml" Id="Rc9fe3a40615d45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b849a7279e445e" /><Relationship Type="http://schemas.openxmlformats.org/officeDocument/2006/relationships/chart" Target="/ppt/slides/charts/chart2.xml" Id="R9255625df4b641cf" /><Relationship Type="http://schemas.openxmlformats.org/officeDocument/2006/relationships/notesSlide" Target="/ppt/notesSlides/notesSlide10.xml" Id="R3c5576f657f84f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96d44fdf6448dd" /><Relationship Type="http://schemas.openxmlformats.org/officeDocument/2006/relationships/image" Target="/ppt/media/image4.png" Id="R93e5800f87094f54" /><Relationship Type="http://schemas.openxmlformats.org/officeDocument/2006/relationships/notesSlide" Target="/ppt/notesSlides/notesSlide11.xml" Id="Rf11415c8fbe041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b7590f424d4836" /><Relationship Type="http://schemas.openxmlformats.org/officeDocument/2006/relationships/image" Target="/ppt/media/image5.png" Id="R524a9b805d954a7d" /><Relationship Type="http://schemas.openxmlformats.org/officeDocument/2006/relationships/notesSlide" Target="/ppt/notesSlides/notesSlide12.xml" Id="Rdf6351c9dd3c4e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14899bcabb454c" /><Relationship Type="http://schemas.openxmlformats.org/officeDocument/2006/relationships/notesSlide" Target="/ppt/notesSlides/notesSlide13.xml" Id="Raa1abed2b120401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4ccf7cee9a45aa" /><Relationship Type="http://schemas.openxmlformats.org/officeDocument/2006/relationships/notesSlide" Target="/ppt/notesSlides/notesSlide14.xml" Id="Rfd5f4934f7b9479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2ab7b7635d437a" /><Relationship Type="http://schemas.openxmlformats.org/officeDocument/2006/relationships/notesSlide" Target="/ppt/notesSlides/notesSlide15.xml" Id="Rc308a008b6ce464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0f30b4170b4349" /><Relationship Type="http://schemas.openxmlformats.org/officeDocument/2006/relationships/notesSlide" Target="/ppt/notesSlides/notesSlide16.xml" Id="R01e903f18d664a9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7772bbff9a4739" /><Relationship Type="http://schemas.openxmlformats.org/officeDocument/2006/relationships/notesSlide" Target="/ppt/notesSlides/notesSlide17.xml" Id="Re1abca37102b4ad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df51d006634c49" /><Relationship Type="http://schemas.openxmlformats.org/officeDocument/2006/relationships/notesSlide" Target="/ppt/notesSlides/notesSlide18.xml" Id="R2ddbe5c3b4f7493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平均科室准确率</c:v>
          </c:tx>
          <c:spPr>
            <a:solidFill xmlns:a="http://schemas.openxmlformats.org/drawingml/2006/main">
              <a:srgbClr val="007F7A"/>
            </a:solidFill>
          </c:spPr>
          <c:invertIfNegative val="0"/>
          <c:cat>
            <c:strRef>
              <c:f>'Chart Data'!$A$2:$A$7</c:f>
              <c:strCache>
                <c:ptCount val="6"/>
                <c:pt idx="0">
                  <c:v>char n-gram</c:v>
                </c:pt>
                <c:pt idx="1">
                  <c:v>binary</c:v>
                </c:pt>
                <c:pt idx="2">
                  <c:v>three-state</c:v>
                </c:pt>
                <c:pt idx="3">
                  <c:v>word + char</c:v>
                </c:pt>
                <c:pt idx="4">
                  <c:v>word TF-IDF</c:v>
                </c:pt>
                <c:pt idx="5">
                  <c:v>Multinomial NB</c:v>
                </c:pt>
              </c:strCache>
            </c:strRef>
          </c:cat>
          <c:val>
            <c:numRef>
              <c:f>'Chart Data'!$B$2:$B$7</c:f>
              <c:numCache>
                <c:formatCode>0%</c:formatCode>
                <c:ptCount val="6"/>
                <c:pt idx="0">
                  <c:v>0.608179</c:v>
                </c:pt>
                <c:pt idx="1">
                  <c:v>0.459129</c:v>
                </c:pt>
                <c:pt idx="2">
                  <c:v>0.459129</c:v>
                </c:pt>
                <c:pt idx="3">
                  <c:v>0.430939</c:v>
                </c:pt>
                <c:pt idx="4">
                  <c:v>0.377989</c:v>
                </c:pt>
                <c:pt idx="5">
                  <c:v>0.326695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102D32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0.7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CE6E4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保留样本准确率</c:v>
          </c:tx>
          <c:spPr>
            <a:ln xmlns:a="http://schemas.openxmlformats.org/drawingml/2006/main" w="28575">
              <a:solidFill>
                <a:srgbClr val="007F7A"/>
              </a:solidFill>
            </a:ln>
          </c:spPr>
          <c:marker>
            <c:symbol val="circle"/>
            <c:size val="8"/>
          </c:marker>
          <c:cat>
            <c:strRef>
              <c:f>'Chart Data'!$A$2:$A$7</c:f>
              <c:strCache>
                <c:ptCount val="6"/>
                <c:pt idx="0">
                  <c:v>99.1%</c:v>
                </c:pt>
                <c:pt idx="1">
                  <c:v>91.5%</c:v>
                </c:pt>
                <c:pt idx="2">
                  <c:v>76.1%</c:v>
                </c:pt>
                <c:pt idx="3">
                  <c:v>62.4%</c:v>
                </c:pt>
                <c:pt idx="4">
                  <c:v>53.5%</c:v>
                </c:pt>
                <c:pt idx="5">
                  <c:v>47.4%</c:v>
                </c:pt>
              </c:strCache>
            </c:strRef>
          </c:cat>
          <c:val>
            <c:numRef>
              <c:f>'Chart Data'!$B$2:$B$7</c:f>
              <c:numCache>
                <c:formatCode>0%</c:formatCode>
                <c:ptCount val="6"/>
                <c:pt idx="0">
                  <c:v>0.625592</c:v>
                </c:pt>
                <c:pt idx="1">
                  <c:v>0.646154</c:v>
                </c:pt>
                <c:pt idx="2">
                  <c:v>0.740741</c:v>
                </c:pt>
                <c:pt idx="3">
                  <c:v>0.81203</c:v>
                </c:pt>
                <c:pt idx="4">
                  <c:v>0.850877</c:v>
                </c:pt>
                <c:pt idx="5">
                  <c:v>0.881188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102D32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icrosoft YaHei"/>
                    <a:ea typeface="Microsoft YaHei"/>
                    <a:cs typeface="Microsoft YaHei"/>
                  </a:rPr>
                  <a:t>实际覆盖率（递减）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YaHei"/>
                  <a:ea typeface="Microsoft YaHei"/>
                  <a:cs typeface="Microsoft YaHe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6E4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28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2026 AIC · AI+医学">
            <a:extLst xmlns:a="http://schemas.openxmlformats.org/drawingml/2006/main">
              <a:ext uri="{FF2B5EF4-FFF2-40B4-BE49-F238E27FC236}">
                <a16:creationId xmlns:a16="http://schemas.microsoft.com/office/drawing/2014/main" id="{EA3DE113-1FB8-4CDE-A280-E2B757C5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rPr>
              <a:t>2026 AIC · AI+医学</a:t>
            </a:r>
          </a:p>
        </p:txBody>
      </p:sp>
      <p:sp>
        <p:nvSpPr>
          <p:cNvPr id="2" name="常医智导">
            <a:extLst xmlns:a="http://schemas.openxmlformats.org/drawingml/2006/main">
              <a:ext uri="{FF2B5EF4-FFF2-40B4-BE49-F238E27FC236}">
                <a16:creationId xmlns:a16="http://schemas.microsoft.com/office/drawing/2014/main" id="{76DA9060-2AE7-441C-AE9A-FF4ECC39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常医智导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853F72ED-4EBE-4C54-8FFB-BBE361DA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01">
            <a:extLst xmlns:a="http://schemas.openxmlformats.org/drawingml/2006/main">
              <a:ext uri="{FF2B5EF4-FFF2-40B4-BE49-F238E27FC236}">
                <a16:creationId xmlns:a16="http://schemas.microsoft.com/office/drawing/2014/main" id="{6EBA785F-6BE9-4D31-81F3-648000EC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安全优先的城市就医路径辅助系统">
            <a:extLst xmlns:a="http://schemas.openxmlformats.org/drawingml/2006/main">
              <a:ext uri="{FF2B5EF4-FFF2-40B4-BE49-F238E27FC236}">
                <a16:creationId xmlns:a16="http://schemas.microsoft.com/office/drawing/2014/main" id="{829BB654-A6F7-418C-84E6-C13A49EE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0">
                <a:solidFill>
                  <a:srgbClr val="D1E8E5"/>
                </a:solidFill>
                <a:latin typeface="Microsoft YaHei"/>
                <a:ea typeface="Microsoft YaHei"/>
                <a:cs typeface="Microsoft YaHei"/>
              </a:rPr>
              <a:t>安全优先的城市就医路径辅助系统</a:t>
            </a:r>
          </a:p>
        </p:txBody>
      </p:sp>
      <p:sp>
        <p:nvSpPr>
          <p:cNvPr id="6" name="主诉描述  →  安全分层  →  就医方向  →  本">
            <a:extLst xmlns:a="http://schemas.openxmlformats.org/drawingml/2006/main">
              <a:ext uri="{FF2B5EF4-FFF2-40B4-BE49-F238E27FC236}">
                <a16:creationId xmlns:a16="http://schemas.microsoft.com/office/drawing/2014/main" id="{94371E3C-1618-463A-B2F0-B6D9DF45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962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8DCCCB"/>
                </a:solidFill>
                <a:latin typeface="Microsoft YaHei"/>
                <a:ea typeface="Microsoft YaHei"/>
                <a:cs typeface="Microsoft YaHei"/>
              </a:rPr>
              <a:t>主诉描述  →  安全分层  →  就医方向  →  本地资源</a:t>
            </a:r>
          </a:p>
        </p:txBody>
      </p:sp>
      <p:sp>
        <p:nvSpPr>
          <p:cNvPr id="7" name="常州场景原型  /  匿名参赛展示">
            <a:extLst xmlns:a="http://schemas.openxmlformats.org/drawingml/2006/main">
              <a:ext uri="{FF2B5EF4-FFF2-40B4-BE49-F238E27FC236}">
                <a16:creationId xmlns:a16="http://schemas.microsoft.com/office/drawing/2014/main" id="{3B5093CE-2BFD-4932-BE71-D8F7C8AA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AB9BA"/>
                </a:solidFill>
                <a:latin typeface="Microsoft YaHei"/>
                <a:ea typeface="Microsoft YaHei"/>
                <a:cs typeface="Microsoft YaHei"/>
              </a:rPr>
              <a:t>常州场景原型  /  匿名参赛展示</a:t>
            </a:r>
          </a:p>
        </p:txBody>
      </p:sp>
    </p:spTree>
    <p:extLst>
      <p:ext uri="{BB962C8B-B14F-4D97-AF65-F5344CB8AC3E}">
        <p14:creationId xmlns:p14="http://schemas.microsoft.com/office/powerpoint/2010/main" val="8526116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A286926D-3E81-40C9-8477-E940F565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就医前，用户要连续做四次判断">
            <a:extLst xmlns:a="http://schemas.openxmlformats.org/drawingml/2006/main">
              <a:ext uri="{FF2B5EF4-FFF2-40B4-BE49-F238E27FC236}">
                <a16:creationId xmlns:a16="http://schemas.microsoft.com/office/drawing/2014/main" id="{319383A3-E03F-4CFF-AC41-020CBDEF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就医前，用户要连续做四次判断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09546676-D771-4239-9E15-E3014BC9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02">
            <a:extLst xmlns:a="http://schemas.openxmlformats.org/drawingml/2006/main">
              <a:ext uri="{FF2B5EF4-FFF2-40B4-BE49-F238E27FC236}">
                <a16:creationId xmlns:a16="http://schemas.microsoft.com/office/drawing/2014/main" id="{3F97B8C1-D297-4747-A338-DFAB9ABA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3BBCDE78-F67B-47DA-AAAD-4B19F05B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现在需要立即就医吗？">
            <a:extLst xmlns:a="http://schemas.openxmlformats.org/drawingml/2006/main">
              <a:ext uri="{FF2B5EF4-FFF2-40B4-BE49-F238E27FC236}">
                <a16:creationId xmlns:a16="http://schemas.microsoft.com/office/drawing/2014/main" id="{57FB90E2-2F47-4129-8CEE-D77E1939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94310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现在需要立即就医吗？</a:t>
            </a:r>
          </a:p>
        </p:txBody>
      </p:sp>
      <p:sp>
        <p:nvSpPr>
          <p:cNvPr id="7" name="风险信号常混在普通症状描述里">
            <a:extLst xmlns:a="http://schemas.openxmlformats.org/drawingml/2006/main">
              <a:ext uri="{FF2B5EF4-FFF2-40B4-BE49-F238E27FC236}">
                <a16:creationId xmlns:a16="http://schemas.microsoft.com/office/drawing/2014/main" id="{B5D8C362-2D42-41FE-A162-06D4036C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71675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风险信号常混在普通症状描述里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28961E92-E37E-4A49-B99F-03C145A9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应该先了解哪个科室？">
            <a:extLst xmlns:a="http://schemas.openxmlformats.org/drawingml/2006/main">
              <a:ext uri="{FF2B5EF4-FFF2-40B4-BE49-F238E27FC236}">
                <a16:creationId xmlns:a16="http://schemas.microsoft.com/office/drawing/2014/main" id="{B666B80C-3E69-46E7-BDB4-2AC930FB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94322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应该先了解哪个科室？</a:t>
            </a:r>
          </a:p>
        </p:txBody>
      </p:sp>
      <p:sp>
        <p:nvSpPr>
          <p:cNvPr id="10" name="用户通常先有主诉，再寻找医学词汇">
            <a:extLst xmlns:a="http://schemas.openxmlformats.org/drawingml/2006/main">
              <a:ext uri="{FF2B5EF4-FFF2-40B4-BE49-F238E27FC236}">
                <a16:creationId xmlns:a16="http://schemas.microsoft.com/office/drawing/2014/main" id="{C264793E-66D9-4611-9147-37C982C8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7180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用户通常先有主诉，再寻找医学词汇</a:t>
            </a:r>
          </a:p>
        </p:txBody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5C5C69AF-AFA3-455F-B6F5-F4DBED48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哪家医院更适合？">
            <a:extLst xmlns:a="http://schemas.openxmlformats.org/drawingml/2006/main">
              <a:ext uri="{FF2B5EF4-FFF2-40B4-BE49-F238E27FC236}">
                <a16:creationId xmlns:a16="http://schemas.microsoft.com/office/drawing/2014/main" id="{99724E95-19E2-499E-8294-53A3DD7E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4335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哪家医院更适合？</a:t>
            </a:r>
          </a:p>
        </p:txBody>
      </p:sp>
      <p:sp>
        <p:nvSpPr>
          <p:cNvPr id="13" name="科室、位置和资源信息分散">
            <a:extLst xmlns:a="http://schemas.openxmlformats.org/drawingml/2006/main">
              <a:ext uri="{FF2B5EF4-FFF2-40B4-BE49-F238E27FC236}">
                <a16:creationId xmlns:a16="http://schemas.microsoft.com/office/drawing/2014/main" id="{84953AF4-8FB7-4421-AFC0-2377CD99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71925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科室、位置和资源信息分散</a:t>
            </a:r>
          </a:p>
        </p:txBody>
      </p:sp>
      <p:sp>
        <p:nvSpPr>
          <p:cNvPr id="14" name="04">
            <a:extLst xmlns:a="http://schemas.openxmlformats.org/drawingml/2006/main">
              <a:ext uri="{FF2B5EF4-FFF2-40B4-BE49-F238E27FC236}">
                <a16:creationId xmlns:a16="http://schemas.microsoft.com/office/drawing/2014/main" id="{242B6E80-33C8-4C02-BFE2-91D9B9DB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5" name="下一步如何到达？">
            <a:extLst xmlns:a="http://schemas.openxmlformats.org/drawingml/2006/main">
              <a:ext uri="{FF2B5EF4-FFF2-40B4-BE49-F238E27FC236}">
                <a16:creationId xmlns:a16="http://schemas.microsoft.com/office/drawing/2014/main" id="{530A2BA5-47C8-4BE9-9504-31C0DEA7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94347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下一步如何到达？</a:t>
            </a:r>
          </a:p>
        </p:txBody>
      </p:sp>
      <p:sp>
        <p:nvSpPr>
          <p:cNvPr id="16" name="方向判断需要继续连接到院路径">
            <a:extLst xmlns:a="http://schemas.openxmlformats.org/drawingml/2006/main">
              <a:ext uri="{FF2B5EF4-FFF2-40B4-BE49-F238E27FC236}">
                <a16:creationId xmlns:a16="http://schemas.microsoft.com/office/drawing/2014/main" id="{18E5C256-C748-4715-B392-1E6A3B6F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方向判断需要继续连接到院路径</a:t>
            </a:r>
          </a:p>
        </p:txBody>
      </p:sp>
    </p:spTree>
    <p:extLst>
      <p:ext uri="{BB962C8B-B14F-4D97-AF65-F5344CB8AC3E}">
        <p14:creationId xmlns:p14="http://schemas.microsoft.com/office/powerpoint/2010/main" val="5851041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368B7D02-EA03-41C2-BF19-546AFBE5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从自然语言主诉进入一条可继续的路径">
            <a:extLst xmlns:a="http://schemas.openxmlformats.org/drawingml/2006/main">
              <a:ext uri="{FF2B5EF4-FFF2-40B4-BE49-F238E27FC236}">
                <a16:creationId xmlns:a16="http://schemas.microsoft.com/office/drawing/2014/main" id="{2388689F-9A4B-4E33-9A7A-B0B75C29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从自然语言主诉进入一条可继续的路径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E06BAF8E-35D0-4367-857A-F3C0F270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03">
            <a:extLst xmlns:a="http://schemas.openxmlformats.org/drawingml/2006/main">
              <a:ext uri="{FF2B5EF4-FFF2-40B4-BE49-F238E27FC236}">
                <a16:creationId xmlns:a16="http://schemas.microsoft.com/office/drawing/2014/main" id="{3F3B106A-C1C0-4EB7-8E25-050CC19E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先描述不适">
            <a:extLst xmlns:a="http://schemas.openxmlformats.org/drawingml/2006/main">
              <a:ext uri="{FF2B5EF4-FFF2-40B4-BE49-F238E27FC236}">
                <a16:creationId xmlns:a16="http://schemas.microsoft.com/office/drawing/2014/main" id="{9D27B231-9648-4F88-8CFE-47403E0C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3714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先描述不适</a:t>
            </a:r>
          </a:p>
        </p:txBody>
      </p:sp>
      <p:sp>
        <p:nvSpPr>
          <p:cNvPr id="6" name="保留原始表达&#10;按缺失信息继续追问&#10;展示当前理解与科室依据">
            <a:extLst xmlns:a="http://schemas.openxmlformats.org/drawingml/2006/main">
              <a:ext uri="{FF2B5EF4-FFF2-40B4-BE49-F238E27FC236}">
                <a16:creationId xmlns:a16="http://schemas.microsoft.com/office/drawing/2014/main" id="{B463CC7A-C5DE-42C8-8548-DAF4207E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3810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保留原始表达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按缺失信息继续追问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展示当前理解与科室依据</a:t>
            </a:r>
          </a:p>
        </p:txBody>
      </p:sp>
      <p:sp>
        <p:nvSpPr>
          <p:cNvPr id="7" name="目标用户：有初步就医需求、&#10;尚不清楚科室方向的居民">
            <a:extLst xmlns:a="http://schemas.openxmlformats.org/drawingml/2006/main">
              <a:ext uri="{FF2B5EF4-FFF2-40B4-BE49-F238E27FC236}">
                <a16:creationId xmlns:a16="http://schemas.microsoft.com/office/drawing/2014/main" id="{603F3A76-486B-4CC1-B90E-7DF3237F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4048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目标用户：有初步就医需求、</a:t>
            </a:r>
          </a:p>
          <a:p xmlns:a="http://schemas.openxmlformats.org/drawingml/2006/main">
            <a: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尚不清楚科室方向的居民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C5804-70EF-4C67-A5B3-414668BB32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313a1002f04509"/>
          <a:stretch xmlns:a="http://schemas.openxmlformats.org/drawingml/2006/main"/>
        </p:blipFill>
        <p:spPr>
          <a:xfrm xmlns:a="http://schemas.openxmlformats.org/drawingml/2006/main">
            <a:off x="5097780" y="1752600"/>
            <a:ext cx="6377940" cy="442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1974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FD12A350-1C2E-4B47-8972-9C2B8F8F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危险信号出现时，普通推荐立即停止">
            <a:extLst xmlns:a="http://schemas.openxmlformats.org/drawingml/2006/main">
              <a:ext uri="{FF2B5EF4-FFF2-40B4-BE49-F238E27FC236}">
                <a16:creationId xmlns:a16="http://schemas.microsoft.com/office/drawing/2014/main" id="{C52B7082-CFC0-4C83-8126-0E1B6F36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危险信号出现时，普通推荐立即停止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E82E4D70-526E-4A18-A600-1810139B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04">
            <a:extLst xmlns:a="http://schemas.openxmlformats.org/drawingml/2006/main">
              <a:ext uri="{FF2B5EF4-FFF2-40B4-BE49-F238E27FC236}">
                <a16:creationId xmlns:a16="http://schemas.microsoft.com/office/drawing/2014/main" id="{148F5C50-EC26-4311-84AD-F7C00BC5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合成演示输入">
            <a:extLst xmlns:a="http://schemas.openxmlformats.org/drawingml/2006/main">
              <a:ext uri="{FF2B5EF4-FFF2-40B4-BE49-F238E27FC236}">
                <a16:creationId xmlns:a16="http://schemas.microsoft.com/office/drawing/2014/main" id="{7FDD47BD-B324-4C7D-A58A-23113480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合成演示输入</a:t>
            </a:r>
          </a:p>
        </p:txBody>
      </p:sp>
      <p:sp>
        <p:nvSpPr>
          <p:cNvPr id="6" name="“现在突然胸痛，&#10;喘不上气，出冷汗”">
            <a:extLst xmlns:a="http://schemas.openxmlformats.org/drawingml/2006/main">
              <a:ext uri="{FF2B5EF4-FFF2-40B4-BE49-F238E27FC236}">
                <a16:creationId xmlns:a16="http://schemas.microsoft.com/office/drawing/2014/main" id="{57311B52-82D3-4C2A-AC39-01C537FF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4095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rPr>
              <a:t>“现在突然胸痛，</a:t>
            </a:r>
          </a:p>
          <a:p xmlns:a="http://schemas.openxmlformats.org/drawingml/2006/main">
            <a:pPr>
              <a:def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rPr>
              <a:t>喘不上气，出冷汗”</a:t>
            </a:r>
          </a:p>
        </p:txBody>
      </p:sp>
      <p:sp>
        <p:nvSpPr>
          <p:cNvPr id="7" name="实际输出：EMERGENCY&#10;清空普通疾病与科室候选&#10;优">
            <a:extLst xmlns:a="http://schemas.openxmlformats.org/drawingml/2006/main">
              <a:ext uri="{FF2B5EF4-FFF2-40B4-BE49-F238E27FC236}">
                <a16:creationId xmlns:a16="http://schemas.microsoft.com/office/drawing/2014/main" id="{EE0684FE-FDC0-4314-8C2F-7945EC2B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4095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实际输出：EMERGENCY</a:t>
            </a:r>
          </a:p>
          <a:p xmlns:a="http://schemas.openxmlformats.org/drawingml/2006/main">
            <a: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清空普通疾病与科室候选</a:t>
            </a:r>
          </a:p>
          <a:p xmlns:a="http://schemas.openxmlformats.org/drawingml/2006/main">
            <a: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优先展示急症出口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F779E7-E07F-48B8-A79E-E4521839DE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fac911c6445c1"/>
          <a:stretch xmlns:a="http://schemas.openxmlformats.org/drawingml/2006/main"/>
        </p:blipFill>
        <p:spPr>
          <a:xfrm xmlns:a="http://schemas.openxmlformats.org/drawingml/2006/main">
            <a:off x="5143500" y="2068796"/>
            <a:ext cx="6429375" cy="344430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1581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80DA62FE-49BD-4ED8-9307-5A135EB8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信息不足时，先补充主诉再给方向">
            <a:extLst xmlns:a="http://schemas.openxmlformats.org/drawingml/2006/main">
              <a:ext uri="{FF2B5EF4-FFF2-40B4-BE49-F238E27FC236}">
                <a16:creationId xmlns:a16="http://schemas.microsoft.com/office/drawing/2014/main" id="{24502E12-8A21-4244-9502-57502102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信息不足时，先补充主诉再给方向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A25D057D-F7A9-4EC0-9630-1F729152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05">
            <a:extLst xmlns:a="http://schemas.openxmlformats.org/drawingml/2006/main">
              <a:ext uri="{FF2B5EF4-FFF2-40B4-BE49-F238E27FC236}">
                <a16:creationId xmlns:a16="http://schemas.microsoft.com/office/drawing/2014/main" id="{C022BA17-40EA-4772-BE0D-67C4BA61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“我今年30岁，女性”">
            <a:extLst xmlns:a="http://schemas.openxmlformats.org/drawingml/2006/main">
              <a:ext uri="{FF2B5EF4-FFF2-40B4-BE49-F238E27FC236}">
                <a16:creationId xmlns:a16="http://schemas.microsoft.com/office/drawing/2014/main" id="{C454F853-8848-482C-9552-777E561A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4286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“我今年30岁，女性”</a:t>
            </a:r>
          </a:p>
        </p:txBody>
      </p:sp>
      <p:sp>
        <p:nvSpPr>
          <p:cNvPr id="6" name="实际输出：信息不足&#10;科室为空，疾病候选为空&#10;请求补充医学">
            <a:extLst xmlns:a="http://schemas.openxmlformats.org/drawingml/2006/main">
              <a:ext uri="{FF2B5EF4-FFF2-40B4-BE49-F238E27FC236}">
                <a16:creationId xmlns:a16="http://schemas.microsoft.com/office/drawing/2014/main" id="{F9941A39-34EE-4C9B-B47D-254D7C3C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143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实际输出：信息不足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科室为空，疾病候选为空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请求补充医学主诉</a:t>
            </a:r>
          </a:p>
        </p:txBody>
      </p:sp>
      <p:sp>
        <p:nvSpPr>
          <p:cNvPr id="7" name="人口属性只能提供语境，&#10;不能代替症状或就医目的">
            <a:extLst xmlns:a="http://schemas.openxmlformats.org/drawingml/2006/main">
              <a:ext uri="{FF2B5EF4-FFF2-40B4-BE49-F238E27FC236}">
                <a16:creationId xmlns:a16="http://schemas.microsoft.com/office/drawing/2014/main" id="{E93C70F5-68EC-4B52-AEC5-9F29DE6F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4143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人口属性只能提供语境，</a:t>
            </a:r>
          </a:p>
          <a:p xmlns:a="http://schemas.openxmlformats.org/drawingml/2006/main">
            <a: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不能代替症状或就医目的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6712F7-6AD1-4507-8B5B-662315BE47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dc2170a6248f4"/>
          <a:stretch xmlns:a="http://schemas.openxmlformats.org/drawingml/2006/main"/>
        </p:blipFill>
        <p:spPr>
          <a:xfrm xmlns:a="http://schemas.openxmlformats.org/drawingml/2006/main">
            <a:off x="5048250" y="1895826"/>
            <a:ext cx="6572250" cy="392359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2592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9704A5DA-ED77-4364-B622-B6C73CB1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独立 Safety Gate 控制四类发布状态">
            <a:extLst xmlns:a="http://schemas.openxmlformats.org/drawingml/2006/main">
              <a:ext uri="{FF2B5EF4-FFF2-40B4-BE49-F238E27FC236}">
                <a16:creationId xmlns:a16="http://schemas.microsoft.com/office/drawing/2014/main" id="{350DAAEE-AD47-4F66-97FA-F5092C30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独立 Safety Gate 控制四类发布状态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7A62E717-CA3B-4C6E-8412-6C3EAE91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806F2D0C-F84D-4804-9225-79ED4054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ER">
            <a:extLst xmlns:a="http://schemas.openxmlformats.org/drawingml/2006/main">
              <a:ext uri="{FF2B5EF4-FFF2-40B4-BE49-F238E27FC236}">
                <a16:creationId xmlns:a16="http://schemas.microsoft.com/office/drawing/2014/main" id="{EF12A64F-25B7-4797-A3F4-25405331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rPr>
              <a:t>ER</a:t>
            </a:r>
          </a:p>
        </p:txBody>
      </p:sp>
      <p:sp>
        <p:nvSpPr>
          <p:cNvPr id="6" name="紧急医疗评估">
            <a:extLst xmlns:a="http://schemas.openxmlformats.org/drawingml/2006/main">
              <a:ext uri="{FF2B5EF4-FFF2-40B4-BE49-F238E27FC236}">
                <a16:creationId xmlns:a16="http://schemas.microsoft.com/office/drawing/2014/main" id="{29410157-7C91-4131-A27D-A6516031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99072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紧急医疗评估</a:t>
            </a:r>
          </a:p>
        </p:txBody>
      </p:sp>
      <p:sp>
        <p:nvSpPr>
          <p:cNvPr id="7" name="停止普通排行，优先呈现急症出口">
            <a:extLst xmlns:a="http://schemas.openxmlformats.org/drawingml/2006/main">
              <a:ext uri="{FF2B5EF4-FFF2-40B4-BE49-F238E27FC236}">
                <a16:creationId xmlns:a16="http://schemas.microsoft.com/office/drawing/2014/main" id="{DC7DD40D-A5FA-4D34-93AC-A04C3D7D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1930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停止普通排行，优先呈现急症出口</a:t>
            </a:r>
          </a:p>
        </p:txBody>
      </p:sp>
      <p:sp>
        <p:nvSpPr>
          <p:cNvPr id="8" name="U">
            <a:extLst xmlns:a="http://schemas.openxmlformats.org/drawingml/2006/main">
              <a:ext uri="{FF2B5EF4-FFF2-40B4-BE49-F238E27FC236}">
                <a16:creationId xmlns:a16="http://schemas.microsoft.com/office/drawing/2014/main" id="{8C0935F0-67FC-4067-BDC4-AFF3D9D8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A86A27"/>
                </a:solidFill>
                <a:latin typeface="Microsoft YaHei"/>
                <a:ea typeface="Microsoft YaHei"/>
                <a:cs typeface="Microsoft YaHei"/>
              </a:rPr>
              <a:t>U</a:t>
            </a:r>
          </a:p>
        </p:txBody>
      </p:sp>
      <p:sp>
        <p:nvSpPr>
          <p:cNvPr id="9" name="及时评估">
            <a:extLst xmlns:a="http://schemas.openxmlformats.org/drawingml/2006/main">
              <a:ext uri="{FF2B5EF4-FFF2-40B4-BE49-F238E27FC236}">
                <a16:creationId xmlns:a16="http://schemas.microsoft.com/office/drawing/2014/main" id="{31AF983C-174B-4A07-BA28-22D13E8F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98132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及时评估</a:t>
            </a:r>
          </a:p>
        </p:txBody>
      </p:sp>
      <p:sp>
        <p:nvSpPr>
          <p:cNvPr id="10" name="保留及时就医提示，抑制普通排名">
            <a:extLst xmlns:a="http://schemas.openxmlformats.org/drawingml/2006/main">
              <a:ext uri="{FF2B5EF4-FFF2-40B4-BE49-F238E27FC236}">
                <a16:creationId xmlns:a16="http://schemas.microsoft.com/office/drawing/2014/main" id="{C390F169-D09C-4224-8E6F-C7AE7BDB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0990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保留及时就医提示，抑制普通排名</a:t>
            </a:r>
          </a:p>
        </p:txBody>
      </p:sp>
      <p:sp>
        <p:nvSpPr>
          <p:cNvPr id="11" name="R">
            <a:extLst xmlns:a="http://schemas.openxmlformats.org/drawingml/2006/main">
              <a:ext uri="{FF2B5EF4-FFF2-40B4-BE49-F238E27FC236}">
                <a16:creationId xmlns:a16="http://schemas.microsoft.com/office/drawing/2014/main" id="{51CA0428-0867-402F-8D64-43E7C786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R</a:t>
            </a:r>
          </a:p>
        </p:txBody>
      </p:sp>
      <p:sp>
        <p:nvSpPr>
          <p:cNvPr id="12" name="普通就医方向">
            <a:extLst xmlns:a="http://schemas.openxmlformats.org/drawingml/2006/main">
              <a:ext uri="{FF2B5EF4-FFF2-40B4-BE49-F238E27FC236}">
                <a16:creationId xmlns:a16="http://schemas.microsoft.com/office/drawing/2014/main" id="{AB2ECB9D-94E6-4033-9B32-A5BC147E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7192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普通就医方向</a:t>
            </a:r>
          </a:p>
        </p:txBody>
      </p:sp>
      <p:sp>
        <p:nvSpPr>
          <p:cNvPr id="13" name="允许继续了解科室与本地资源">
            <a:extLst xmlns:a="http://schemas.openxmlformats.org/drawingml/2006/main">
              <a:ext uri="{FF2B5EF4-FFF2-40B4-BE49-F238E27FC236}">
                <a16:creationId xmlns:a16="http://schemas.microsoft.com/office/drawing/2014/main" id="{6A3422EC-C604-4784-964C-96A8DC99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允许继续了解科室与本地资源</a:t>
            </a:r>
          </a:p>
        </p:txBody>
      </p:sp>
      <p:sp>
        <p:nvSpPr>
          <p:cNvPr id="14" name="I">
            <a:extLst xmlns:a="http://schemas.openxmlformats.org/drawingml/2006/main">
              <a:ext uri="{FF2B5EF4-FFF2-40B4-BE49-F238E27FC236}">
                <a16:creationId xmlns:a16="http://schemas.microsoft.com/office/drawing/2014/main" id="{BA6CFAC0-520A-4862-A082-0334CDE6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4383A1"/>
                </a:solidFill>
                <a:latin typeface="Microsoft YaHei"/>
                <a:ea typeface="Microsoft YaHei"/>
                <a:cs typeface="Microsoft YaHei"/>
              </a:rPr>
              <a:t>I</a:t>
            </a:r>
          </a:p>
        </p:txBody>
      </p:sp>
      <p:sp>
        <p:nvSpPr>
          <p:cNvPr id="15" name="信息不足">
            <a:extLst xmlns:a="http://schemas.openxmlformats.org/drawingml/2006/main">
              <a:ext uri="{FF2B5EF4-FFF2-40B4-BE49-F238E27FC236}">
                <a16:creationId xmlns:a16="http://schemas.microsoft.com/office/drawing/2014/main" id="{107C4109-17CF-43AC-B2DE-B949C2F5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96252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信息不足</a:t>
            </a:r>
          </a:p>
        </p:txBody>
      </p:sp>
      <p:sp>
        <p:nvSpPr>
          <p:cNvPr id="16" name="先补全必要信息，暂缓输出候选">
            <a:extLst xmlns:a="http://schemas.openxmlformats.org/drawingml/2006/main">
              <a:ext uri="{FF2B5EF4-FFF2-40B4-BE49-F238E27FC236}">
                <a16:creationId xmlns:a16="http://schemas.microsoft.com/office/drawing/2014/main" id="{DE87E7C6-3612-4EB6-B382-BED87B72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9110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先补全必要信息，暂缓输出候选</a:t>
            </a:r>
          </a:p>
        </p:txBody>
      </p:sp>
    </p:spTree>
    <p:extLst>
      <p:ext uri="{BB962C8B-B14F-4D97-AF65-F5344CB8AC3E}">
        <p14:creationId xmlns:p14="http://schemas.microsoft.com/office/powerpoint/2010/main" val="3739685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F8CBE872-B4B4-47E8-B79B-4A133243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安全、算法与城市资源分别承担职责">
            <a:extLst xmlns:a="http://schemas.openxmlformats.org/drawingml/2006/main">
              <a:ext uri="{FF2B5EF4-FFF2-40B4-BE49-F238E27FC236}">
                <a16:creationId xmlns:a16="http://schemas.microsoft.com/office/drawing/2014/main" id="{28903494-F1C5-4542-86F9-CDE6A3F9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安全、算法与城市资源分别承担职责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28507BE3-29B3-4286-8663-512C61BE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07">
            <a:extLst xmlns:a="http://schemas.openxmlformats.org/drawingml/2006/main">
              <a:ext uri="{FF2B5EF4-FFF2-40B4-BE49-F238E27FC236}">
                <a16:creationId xmlns:a16="http://schemas.microsoft.com/office/drawing/2014/main" id="{6339BB48-F863-4334-A5B6-B02670E3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产品运行链">
            <a:extLst xmlns:a="http://schemas.openxmlformats.org/drawingml/2006/main">
              <a:ext uri="{FF2B5EF4-FFF2-40B4-BE49-F238E27FC236}">
                <a16:creationId xmlns:a16="http://schemas.microsoft.com/office/drawing/2014/main" id="{FC3963B3-34FF-49AB-8BEA-015B69C1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产品运行链</a:t>
            </a:r>
          </a:p>
        </p:txBody>
      </p:sp>
      <p:sp>
        <p:nvSpPr>
          <p:cNvPr id="6" name="React / TypeScript&#10;↓&#10;Flask  ">
            <a:extLst xmlns:a="http://schemas.openxmlformats.org/drawingml/2006/main">
              <a:ext uri="{FF2B5EF4-FFF2-40B4-BE49-F238E27FC236}">
                <a16:creationId xmlns:a16="http://schemas.microsoft.com/office/drawing/2014/main" id="{9D870CDA-78CE-4CD2-8170-1E4FC7CD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334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React / TypeScript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Flask  /api/v1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应用服务 → Safety Gate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模型适配器 / 资源仓库</a:t>
            </a:r>
          </a:p>
        </p:txBody>
      </p:sp>
      <p:sp>
        <p:nvSpPr>
          <p:cNvPr id="7" name="安全判断由后端统一负责">
            <a:extLst xmlns:a="http://schemas.openxmlformats.org/drawingml/2006/main">
              <a:ext uri="{FF2B5EF4-FFF2-40B4-BE49-F238E27FC236}">
                <a16:creationId xmlns:a16="http://schemas.microsoft.com/office/drawing/2014/main" id="{9D8C44AC-1355-4C26-A2DF-50019E40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0502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安全判断由后端统一负责</a:t>
            </a:r>
          </a:p>
        </p:txBody>
      </p:sp>
      <p:sp>
        <p:nvSpPr>
          <p:cNvPr id="8" name="界面只展示状态与解释&#10;研究模型保持 RESEARCH_O">
            <a:extLst xmlns:a="http://schemas.openxmlformats.org/drawingml/2006/main">
              <a:ext uri="{FF2B5EF4-FFF2-40B4-BE49-F238E27FC236}">
                <a16:creationId xmlns:a16="http://schemas.microsoft.com/office/drawing/2014/main" id="{CD526C68-802D-46F4-B54B-B54D5B69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051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界面只展示状态与解释</a:t>
            </a:r>
          </a:p>
          <a:p xmlns:a="http://schemas.openxmlformats.org/drawingml/2006/main">
            <a: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研究模型保持 RESEARCH_ONLY</a:t>
            </a:r>
          </a:p>
          <a:p xmlns:a="http://schemas.openxmlformats.org/drawingml/2006/main">
            <a:pPr>
              <a:def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Region Pack 独立装载城市目录</a:t>
            </a:r>
          </a:p>
        </p:txBody>
      </p:sp>
      <p:sp>
        <p:nvSpPr>
          <p:cNvPr id="9" name="CPU 可运行 · 无外部 LLM 依赖">
            <a:extLst xmlns:a="http://schemas.openxmlformats.org/drawingml/2006/main">
              <a:ext uri="{FF2B5EF4-FFF2-40B4-BE49-F238E27FC236}">
                <a16:creationId xmlns:a16="http://schemas.microsoft.com/office/drawing/2014/main" id="{536E4553-321F-4D86-A09A-6D56BC0F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768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CPU 可运行 · 无外部 LLM 依赖</a:t>
            </a:r>
          </a:p>
        </p:txBody>
      </p:sp>
    </p:spTree>
    <p:extLst>
      <p:ext uri="{BB962C8B-B14F-4D97-AF65-F5344CB8AC3E}">
        <p14:creationId xmlns:p14="http://schemas.microsoft.com/office/powerpoint/2010/main" val="17852069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A5A0C9FE-767C-4D0F-BAAC-40F89F9E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科室路由研究：字符表示优于其余对照">
            <a:extLst xmlns:a="http://schemas.openxmlformats.org/drawingml/2006/main">
              <a:ext uri="{FF2B5EF4-FFF2-40B4-BE49-F238E27FC236}">
                <a16:creationId xmlns:a16="http://schemas.microsoft.com/office/drawing/2014/main" id="{79B9BDF4-9581-4AF0-8967-E5BB93ED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科室路由研究：字符表示优于其余对照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2A01459A-A3A6-413F-9C48-49846E9F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08">
            <a:extLst xmlns:a="http://schemas.openxmlformats.org/drawingml/2006/main">
              <a:ext uri="{FF2B5EF4-FFF2-40B4-BE49-F238E27FC236}">
                <a16:creationId xmlns:a16="http://schemas.microsoft.com/office/drawing/2014/main" id="{BD985F5A-6EE3-4119-A0F3-1720EB25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1AE0A033-740F-4ADA-8CAB-1B95A35F3825}"/>
              </a:ext>
            </a:extLst>
          </p:cNvPr>
          <p:cNvGraphicFramePr/>
          <p:nvPr/>
        </p:nvGraphicFramePr>
        <p:xfrm>
          <a:off xmlns:a="http://schemas.openxmlformats.org/drawingml/2006/main" x="609600" y="1914525"/>
          <a:ext xmlns:a="http://schemas.openxmlformats.org/drawingml/2006/main" cx="752475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a0a667c24a4ab0"/>
          </a:graphicData>
        </a:graphic>
      </p:graphicFrame>
      <p:sp>
        <p:nvSpPr>
          <p:cNvPr id="6" name="60.82%">
            <a:extLst xmlns:a="http://schemas.openxmlformats.org/drawingml/2006/main">
              <a:ext uri="{FF2B5EF4-FFF2-40B4-BE49-F238E27FC236}">
                <a16:creationId xmlns:a16="http://schemas.microsoft.com/office/drawing/2014/main" id="{44DCA0CE-69B3-466E-9776-4A545BC4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62175"/>
            <a:ext cx="295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60.82%</a:t>
            </a:r>
          </a:p>
        </p:txBody>
      </p:sp>
      <p:sp>
        <p:nvSpPr>
          <p:cNvPr id="7" name="± 3.42 个百分点&#10;5 seeds 平均 Acc">
            <a:extLst xmlns:a="http://schemas.openxmlformats.org/drawingml/2006/main">
              <a:ext uri="{FF2B5EF4-FFF2-40B4-BE49-F238E27FC236}">
                <a16:creationId xmlns:a16="http://schemas.microsoft.com/office/drawing/2014/main" id="{67A49653-BFD8-475F-9773-3428A25C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52775"/>
            <a:ext cx="295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± 3.42 个百分点</a:t>
            </a:r>
          </a:p>
          <a:p xmlns:a="http://schemas.openxmlformats.org/drawingml/2006/main">
            <a: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5 seeds 平均 Acc</a:t>
            </a:r>
          </a:p>
        </p:txBody>
      </p:sp>
      <p:sp>
        <p:nvSpPr>
          <p:cNvPr id="8" name="字符 2–4 gram 作用于&#10;症状码拼接文本，&#10;未证明">
            <a:extLst xmlns:a="http://schemas.openxmlformats.org/drawingml/2006/main">
              <a:ext uri="{FF2B5EF4-FFF2-40B4-BE49-F238E27FC236}">
                <a16:creationId xmlns:a16="http://schemas.microsoft.com/office/drawing/2014/main" id="{31EA6183-7C9A-4ED3-89DA-5771BF89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62475"/>
            <a:ext cx="295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字符 2–4 gram 作用于</a:t>
            </a:r>
          </a:p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症状码拼接文本，</a:t>
            </a:r>
          </a:p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未证明中文口语泛化</a:t>
            </a:r>
          </a:p>
        </p:txBody>
      </p:sp>
      <p:sp>
        <p:nvSpPr>
          <p:cNvPr id="9" name="公开混合文本 · near-duplicate quot">
            <a:extLst xmlns:a="http://schemas.openxmlformats.org/drawingml/2006/main">
              <a:ext uri="{FF2B5EF4-FFF2-40B4-BE49-F238E27FC236}">
                <a16:creationId xmlns:a16="http://schemas.microsoft.com/office/drawing/2014/main" id="{464DD97E-7E0D-4B30-8D32-F1302823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公开混合文本 · near-duplicate quota split · 离线研究，非临床验证</a:t>
            </a:r>
          </a:p>
        </p:txBody>
      </p:sp>
    </p:spTree>
    <p:extLst>
      <p:ext uri="{BB962C8B-B14F-4D97-AF65-F5344CB8AC3E}">
        <p14:creationId xmlns:p14="http://schemas.microsoft.com/office/powerpoint/2010/main" val="15073759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9A7E6E58-0A1B-4C11-BC0F-49927D70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相近样本分组，训练、校准、测试各司其职">
            <a:extLst xmlns:a="http://schemas.openxmlformats.org/drawingml/2006/main">
              <a:ext uri="{FF2B5EF4-FFF2-40B4-BE49-F238E27FC236}">
                <a16:creationId xmlns:a16="http://schemas.microsoft.com/office/drawing/2014/main" id="{A0DA3217-33FF-41AF-94A9-BF96AD15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相近样本分组，训练、校准、测试各司其职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7FE48AAB-E113-494B-A403-C1255CDA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09">
            <a:extLst xmlns:a="http://schemas.openxmlformats.org/drawingml/2006/main">
              <a:ext uri="{FF2B5EF4-FFF2-40B4-BE49-F238E27FC236}">
                <a16:creationId xmlns:a16="http://schemas.microsoft.com/office/drawing/2014/main" id="{353CE3FA-E18C-4485-8989-3EC79BE9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1,289">
            <a:extLst xmlns:a="http://schemas.openxmlformats.org/drawingml/2006/main">
              <a:ext uri="{FF2B5EF4-FFF2-40B4-BE49-F238E27FC236}">
                <a16:creationId xmlns:a16="http://schemas.microsoft.com/office/drawing/2014/main" id="{6E37FD6F-4CE6-40D1-B8E5-14F3569B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4381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1,289</a:t>
            </a:r>
          </a:p>
        </p:txBody>
      </p:sp>
      <p:sp>
        <p:nvSpPr>
          <p:cNvPr id="6" name="公开混合文本样本">
            <a:extLst xmlns:a="http://schemas.openxmlformats.org/drawingml/2006/main">
              <a:ext uri="{FF2B5EF4-FFF2-40B4-BE49-F238E27FC236}">
                <a16:creationId xmlns:a16="http://schemas.microsoft.com/office/drawing/2014/main" id="{74C8AD3C-5DDA-4D53-8D72-8CF23A2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公开混合文本样本</a:t>
            </a:r>
          </a:p>
        </p:txBody>
      </p:sp>
      <p:sp>
        <p:nvSpPr>
          <p:cNvPr id="7" name="seed 42  /  Jaccard 阈值 0.8">
            <a:extLst xmlns:a="http://schemas.openxmlformats.org/drawingml/2006/main">
              <a:ext uri="{FF2B5EF4-FFF2-40B4-BE49-F238E27FC236}">
                <a16:creationId xmlns:a16="http://schemas.microsoft.com/office/drawing/2014/main" id="{C109B8D9-E541-48BE-8743-3ADB2759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seed 42  /  Jaccard 阈值 0.8</a:t>
            </a:r>
          </a:p>
        </p:txBody>
      </p:sp>
      <p:sp>
        <p:nvSpPr>
          <p:cNvPr id="8" name="840">
            <a:extLst xmlns:a="http://schemas.openxmlformats.org/drawingml/2006/main">
              <a:ext uri="{FF2B5EF4-FFF2-40B4-BE49-F238E27FC236}">
                <a16:creationId xmlns:a16="http://schemas.microsoft.com/office/drawing/2014/main" id="{72675C62-B03F-4448-9182-E473B35B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57500"/>
            <a:ext cx="1619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840</a:t>
            </a:r>
          </a:p>
        </p:txBody>
      </p:sp>
      <p:sp>
        <p:nvSpPr>
          <p:cNvPr id="9" name="训练">
            <a:extLst xmlns:a="http://schemas.openxmlformats.org/drawingml/2006/main">
              <a:ext uri="{FF2B5EF4-FFF2-40B4-BE49-F238E27FC236}">
                <a16:creationId xmlns:a16="http://schemas.microsoft.com/office/drawing/2014/main" id="{9BB5EFC1-CF9B-47F6-9F54-4FC8D90E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10000"/>
            <a:ext cx="161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训练</a:t>
            </a:r>
          </a:p>
        </p:txBody>
      </p:sp>
      <p:sp>
        <p:nvSpPr>
          <p:cNvPr id="10" name="236">
            <a:extLst xmlns:a="http://schemas.openxmlformats.org/drawingml/2006/main">
              <a:ext uri="{FF2B5EF4-FFF2-40B4-BE49-F238E27FC236}">
                <a16:creationId xmlns:a16="http://schemas.microsoft.com/office/drawing/2014/main" id="{FCCA2B28-1B89-4E27-8CD4-9FE8171E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857500"/>
            <a:ext cx="1619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236</a:t>
            </a:r>
          </a:p>
        </p:txBody>
      </p:sp>
      <p:sp>
        <p:nvSpPr>
          <p:cNvPr id="11" name="校准">
            <a:extLst xmlns:a="http://schemas.openxmlformats.org/drawingml/2006/main">
              <a:ext uri="{FF2B5EF4-FFF2-40B4-BE49-F238E27FC236}">
                <a16:creationId xmlns:a16="http://schemas.microsoft.com/office/drawing/2014/main" id="{D5BFE033-6A58-4018-B929-2DAE08F9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10000"/>
            <a:ext cx="161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校准</a:t>
            </a:r>
          </a:p>
        </p:txBody>
      </p:sp>
      <p:sp>
        <p:nvSpPr>
          <p:cNvPr id="12" name="213">
            <a:extLst xmlns:a="http://schemas.openxmlformats.org/drawingml/2006/main">
              <a:ext uri="{FF2B5EF4-FFF2-40B4-BE49-F238E27FC236}">
                <a16:creationId xmlns:a16="http://schemas.microsoft.com/office/drawing/2014/main" id="{479873B1-F981-49DA-BB3B-3EA16810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857500"/>
            <a:ext cx="1619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213</a:t>
            </a:r>
          </a:p>
        </p:txBody>
      </p:sp>
      <p:sp>
        <p:nvSpPr>
          <p:cNvPr id="13" name="测试">
            <a:extLst xmlns:a="http://schemas.openxmlformats.org/drawingml/2006/main">
              <a:ext uri="{FF2B5EF4-FFF2-40B4-BE49-F238E27FC236}">
                <a16:creationId xmlns:a16="http://schemas.microsoft.com/office/drawing/2014/main" id="{4FAE8C39-15DF-4D13-A172-35981769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810000"/>
            <a:ext cx="161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测试</a:t>
            </a:r>
          </a:p>
        </p:txBody>
      </p:sp>
      <p:sp>
        <p:nvSpPr>
          <p:cNvPr id="14" name="先按近重复组件分组，再划分集合；&#10;校准集锁阈值，测试集只">
            <a:extLst xmlns:a="http://schemas.openxmlformats.org/drawingml/2006/main">
              <a:ext uri="{FF2B5EF4-FFF2-40B4-BE49-F238E27FC236}">
                <a16:creationId xmlns:a16="http://schemas.microsoft.com/office/drawing/2014/main" id="{63CFB40E-896F-46CA-BD57-002E3928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4825"/>
            <a:ext cx="5143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先按近重复组件分组，再划分集合；</a:t>
            </a:r>
          </a:p>
          <a:p xmlns:a="http://schemas.openxmlformats.org/drawingml/2006/main">
            <a:pPr>
              <a:def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校准集锁阈值，测试集只评估</a:t>
            </a:r>
          </a:p>
        </p:txBody>
      </p:sp>
      <p:sp>
        <p:nvSpPr>
          <p:cNvPr id="15" name="测试包含 25 个病种&#10;低组件病种未进入测试&#10;覆盖缺口必">
            <a:extLst xmlns:a="http://schemas.openxmlformats.org/drawingml/2006/main">
              <a:ext uri="{FF2B5EF4-FFF2-40B4-BE49-F238E27FC236}">
                <a16:creationId xmlns:a16="http://schemas.microsoft.com/office/drawing/2014/main" id="{E92395EF-BACF-49B4-9524-765E8FB2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81575"/>
            <a:ext cx="5143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测试包含 25 个病种</a:t>
            </a:r>
          </a:p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低组件病种未进入测试</a:t>
            </a:r>
          </a:p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覆盖缺口必须随指标披露</a:t>
            </a:r>
          </a:p>
        </p:txBody>
      </p:sp>
    </p:spTree>
    <p:extLst>
      <p:ext uri="{BB962C8B-B14F-4D97-AF65-F5344CB8AC3E}">
        <p14:creationId xmlns:p14="http://schemas.microsoft.com/office/powerpoint/2010/main" val="2520920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40917970-8629-4178-B693-E16DCDB3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提高保留准确率，需要付出覆盖率代价">
            <a:extLst xmlns:a="http://schemas.openxmlformats.org/drawingml/2006/main">
              <a:ext uri="{FF2B5EF4-FFF2-40B4-BE49-F238E27FC236}">
                <a16:creationId xmlns:a16="http://schemas.microsoft.com/office/drawing/2014/main" id="{BD513904-8E62-4594-94FD-D5AE11D9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提高保留准确率，需要付出覆盖率代价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BB85DE37-87B4-4086-A168-752D5A986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10">
            <a:extLst xmlns:a="http://schemas.openxmlformats.org/drawingml/2006/main">
              <a:ext uri="{FF2B5EF4-FFF2-40B4-BE49-F238E27FC236}">
                <a16:creationId xmlns:a16="http://schemas.microsoft.com/office/drawing/2014/main" id="{1B98B8DF-0FC1-49D7-B2AE-3D5602F1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F974DF0E-9444-4B80-A1E5-41EC60703D55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762000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55625df4b641cf"/>
          </a:graphicData>
        </a:graphic>
      </p:graphicFrame>
      <p:sp>
        <p:nvSpPr>
          <p:cNvPr id="6" name="76.06%">
            <a:extLst xmlns:a="http://schemas.openxmlformats.org/drawingml/2006/main">
              <a:ext uri="{FF2B5EF4-FFF2-40B4-BE49-F238E27FC236}">
                <a16:creationId xmlns:a16="http://schemas.microsoft.com/office/drawing/2014/main" id="{DA508ADA-7550-42FF-809F-2F9B2028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95500"/>
            <a:ext cx="2952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42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76.06%</a:t>
            </a:r>
          </a:p>
        </p:txBody>
      </p:sp>
      <p:sp>
        <p:nvSpPr>
          <p:cNvPr id="7" name="实际覆盖率">
            <a:extLst xmlns:a="http://schemas.openxmlformats.org/drawingml/2006/main">
              <a:ext uri="{FF2B5EF4-FFF2-40B4-BE49-F238E27FC236}">
                <a16:creationId xmlns:a16="http://schemas.microsoft.com/office/drawing/2014/main" id="{5CAE5DE1-EE6B-45FE-89A3-5C9DB027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9908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实际覆盖率</a:t>
            </a:r>
          </a:p>
        </p:txBody>
      </p:sp>
      <p:sp>
        <p:nvSpPr>
          <p:cNvPr id="8" name="74.07%">
            <a:extLst xmlns:a="http://schemas.openxmlformats.org/drawingml/2006/main">
              <a:ext uri="{FF2B5EF4-FFF2-40B4-BE49-F238E27FC236}">
                <a16:creationId xmlns:a16="http://schemas.microsoft.com/office/drawing/2014/main" id="{FEC22718-A1F9-4848-BE4A-63A0F3BE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38575"/>
            <a:ext cx="2952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42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74.07%</a:t>
            </a:r>
          </a:p>
        </p:txBody>
      </p:sp>
      <p:sp>
        <p:nvSpPr>
          <p:cNvPr id="9" name="保留样本准确率">
            <a:extLst xmlns:a="http://schemas.openxmlformats.org/drawingml/2006/main">
              <a:ext uri="{FF2B5EF4-FFF2-40B4-BE49-F238E27FC236}">
                <a16:creationId xmlns:a16="http://schemas.microsoft.com/office/drawing/2014/main" id="{465DFAAE-72D5-4A10-94C6-76D231DF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3392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保留样本准确率</a:t>
            </a:r>
          </a:p>
        </p:txBody>
      </p:sp>
      <p:sp>
        <p:nvSpPr>
          <p:cNvPr id="10" name="80% 目标覆盖未达成">
            <a:extLst xmlns:a="http://schemas.openxmlformats.org/drawingml/2006/main">
              <a:ext uri="{FF2B5EF4-FFF2-40B4-BE49-F238E27FC236}">
                <a16:creationId xmlns:a16="http://schemas.microsoft.com/office/drawing/2014/main" id="{BE5679C0-6B8F-4A99-A170-F295373B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51497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rPr>
              <a:t>80% 目标覆盖未达成</a:t>
            </a:r>
          </a:p>
        </p:txBody>
      </p:sp>
      <p:sp>
        <p:nvSpPr>
          <p:cNvPr id="11" name="Round4 char-LR · seed 42 · T">
            <a:extLst xmlns:a="http://schemas.openxmlformats.org/drawingml/2006/main">
              <a:ext uri="{FF2B5EF4-FFF2-40B4-BE49-F238E27FC236}">
                <a16:creationId xmlns:a16="http://schemas.microsoft.com/office/drawing/2014/main" id="{4A7A1879-F11D-4AF1-B01B-9DED2DC4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81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Round4 char-LR · seed 42 · T=0.7 · cal 锁阈值，test 213 条 · 非临床概率</a:t>
            </a:r>
          </a:p>
        </p:txBody>
      </p:sp>
    </p:spTree>
    <p:extLst>
      <p:ext uri="{BB962C8B-B14F-4D97-AF65-F5344CB8AC3E}">
        <p14:creationId xmlns:p14="http://schemas.microsoft.com/office/powerpoint/2010/main" val="12899197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5C320E24-5A5E-4C9E-B4EB-F63EB941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普通路径把科室方向连接到资源与地图">
            <a:extLst xmlns:a="http://schemas.openxmlformats.org/drawingml/2006/main">
              <a:ext uri="{FF2B5EF4-FFF2-40B4-BE49-F238E27FC236}">
                <a16:creationId xmlns:a16="http://schemas.microsoft.com/office/drawing/2014/main" id="{0069F535-E4FE-4C53-BA25-F6C9821D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普通路径把科室方向连接到资源与地图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0D2E7E77-2F9A-44BB-A95E-CAA0F856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11">
            <a:extLst xmlns:a="http://schemas.openxmlformats.org/drawingml/2006/main">
              <a:ext uri="{FF2B5EF4-FFF2-40B4-BE49-F238E27FC236}">
                <a16:creationId xmlns:a16="http://schemas.microsoft.com/office/drawing/2014/main" id="{B51B24F6-BAF9-4FAE-8E0E-612B2690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" name="合成主诉：皮肤瘙痒一周">
            <a:extLst xmlns:a="http://schemas.openxmlformats.org/drawingml/2006/main">
              <a:ext uri="{FF2B5EF4-FFF2-40B4-BE49-F238E27FC236}">
                <a16:creationId xmlns:a16="http://schemas.microsoft.com/office/drawing/2014/main" id="{F9B9A3C0-ABF0-4AFF-90C3-8EC8BFD0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4286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合成主诉：皮肤瘙痒一周</a:t>
            </a:r>
          </a:p>
        </p:txBody>
      </p:sp>
      <p:sp>
        <p:nvSpPr>
          <p:cNvPr id="6" name="当前方向：皮肤科&#10;继续补充严重程度&#10;可进入医院与医生目录">
            <a:extLst xmlns:a="http://schemas.openxmlformats.org/drawingml/2006/main">
              <a:ext uri="{FF2B5EF4-FFF2-40B4-BE49-F238E27FC236}">
                <a16:creationId xmlns:a16="http://schemas.microsoft.com/office/drawing/2014/main" id="{A1CBF35E-05AC-4AFA-85D6-63542CD1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4286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当前方向：皮肤科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继续补充严重程度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可进入医院与医生目录</a:t>
            </a:r>
          </a:p>
          <a:p xmlns:a="http://schemas.openxmlformats.org/drawingml/2006/main">
            <a:pPr>
              <a:def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再查看到院位置</a:t>
            </a:r>
          </a:p>
        </p:txBody>
      </p:sp>
      <p:sp>
        <p:nvSpPr>
          <p:cNvPr id="7" name="方向输出与疾病候选分别受门禁约束；&#10;本例疾病模型因无支持">
            <a:extLst xmlns:a="http://schemas.openxmlformats.org/drawingml/2006/main">
              <a:ext uri="{FF2B5EF4-FFF2-40B4-BE49-F238E27FC236}">
                <a16:creationId xmlns:a16="http://schemas.microsoft.com/office/drawing/2014/main" id="{88F678D4-660A-4C38-BD94-F39DBE9E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4333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方向输出与疾病候选分别受门禁约束；</a:t>
            </a:r>
          </a:p>
          <a:p xmlns:a="http://schemas.openxmlformats.org/drawingml/2006/main">
            <a:pPr>
              <a:def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本例疾病模型因无支持症状而拒答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7218F-1C8F-4545-BA4B-9857CED0A5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5800f87094f54"/>
          <a:stretch xmlns:a="http://schemas.openxmlformats.org/drawingml/2006/main"/>
        </p:blipFill>
        <p:spPr>
          <a:xfrm xmlns:a="http://schemas.openxmlformats.org/drawingml/2006/main">
            <a:off x="5336286" y="1838325"/>
            <a:ext cx="6281928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7062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BFC10BD2-15F4-42B4-8AFE-801A56E1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先在常州验证城市资源连接方式">
            <a:extLst xmlns:a="http://schemas.openxmlformats.org/drawingml/2006/main">
              <a:ext uri="{FF2B5EF4-FFF2-40B4-BE49-F238E27FC236}">
                <a16:creationId xmlns:a16="http://schemas.microsoft.com/office/drawing/2014/main" id="{B95827DE-BF9D-4243-A508-5DA4F3C8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先在常州验证城市资源连接方式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3558F5BE-61E1-47F9-899B-35B84202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12">
            <a:extLst xmlns:a="http://schemas.openxmlformats.org/drawingml/2006/main">
              <a:ext uri="{FF2B5EF4-FFF2-40B4-BE49-F238E27FC236}">
                <a16:creationId xmlns:a16="http://schemas.microsoft.com/office/drawing/2014/main" id="{3D2F46F1-7D71-45E9-8D78-ECA65CBB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1B146BAD-DA1A-4887-8C1C-DA9DD22E4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61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6" name="医院目录记录">
            <a:extLst xmlns:a="http://schemas.openxmlformats.org/drawingml/2006/main">
              <a:ext uri="{FF2B5EF4-FFF2-40B4-BE49-F238E27FC236}">
                <a16:creationId xmlns:a16="http://schemas.microsoft.com/office/drawing/2014/main" id="{C1DE91B3-6BA9-4140-88C0-D595B5AC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3619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医院目录记录</a:t>
            </a:r>
          </a:p>
        </p:txBody>
      </p:sp>
      <p:sp>
        <p:nvSpPr>
          <p:cNvPr id="7" name="2,100">
            <a:extLst xmlns:a="http://schemas.openxmlformats.org/drawingml/2006/main">
              <a:ext uri="{FF2B5EF4-FFF2-40B4-BE49-F238E27FC236}">
                <a16:creationId xmlns:a16="http://schemas.microsoft.com/office/drawing/2014/main" id="{867B6FBC-9B88-480E-9918-DD5BA5C8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361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2,100</a:t>
            </a:r>
          </a:p>
        </p:txBody>
      </p:sp>
      <p:sp>
        <p:nvSpPr>
          <p:cNvPr id="8" name="医生资料记录">
            <a:extLst xmlns:a="http://schemas.openxmlformats.org/drawingml/2006/main">
              <a:ext uri="{FF2B5EF4-FFF2-40B4-BE49-F238E27FC236}">
                <a16:creationId xmlns:a16="http://schemas.microsoft.com/office/drawing/2014/main" id="{0F5F27E3-B43E-4E7D-A628-2B5E79F0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3619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医生资料记录</a:t>
            </a:r>
          </a:p>
        </p:txBody>
      </p:sp>
      <p:sp>
        <p:nvSpPr>
          <p:cNvPr id="9" name="医生资料来自 11 家医院&#10;目录含 194 个科室条目">
            <a:extLst xmlns:a="http://schemas.openxmlformats.org/drawingml/2006/main">
              <a:ext uri="{FF2B5EF4-FFF2-40B4-BE49-F238E27FC236}">
                <a16:creationId xmlns:a16="http://schemas.microsoft.com/office/drawing/2014/main" id="{AF3C5C00-E4E6-4DA0-9B9F-2557C395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428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医生资料来自 11 家医院</a:t>
            </a:r>
          </a:p>
          <a:p xmlns:a="http://schemas.openxmlformats.org/drawingml/2006/main">
            <a:pPr>
              <a:def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目录含 194 个科室条目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D2D690-4F54-4C10-818B-95258EE2BB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4a9b805d954a7d"/>
          <a:stretch xmlns:a="http://schemas.openxmlformats.org/drawingml/2006/main"/>
        </p:blipFill>
        <p:spPr>
          <a:xfrm xmlns:a="http://schemas.openxmlformats.org/drawingml/2006/main">
            <a:off x="5409248" y="1733550"/>
            <a:ext cx="5897880" cy="4095750"/>
          </a:xfrm>
          <a:prstGeom xmlns:a="http://schemas.openxmlformats.org/drawingml/2006/main" prst="rect">
            <a:avLst/>
          </a:prstGeom>
        </p:spPr>
      </p:pic>
      <p:sp>
        <p:nvSpPr>
          <p:cNvPr id="11" name="地图底图 © OpenStreetMap contrib">
            <a:extLst xmlns:a="http://schemas.openxmlformats.org/drawingml/2006/main">
              <a:ext uri="{FF2B5EF4-FFF2-40B4-BE49-F238E27FC236}">
                <a16:creationId xmlns:a16="http://schemas.microsoft.com/office/drawing/2014/main" id="{62A413AB-7980-4AD2-A222-27CD655A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886450"/>
            <a:ext cx="6524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地图底图 © OpenStreetMap contributors</a:t>
            </a:r>
          </a:p>
        </p:txBody>
      </p:sp>
      <p:sp>
        <p:nvSpPr>
          <p:cNvPr id="12" name="目录来源与授权仍需完善；距离为估算，急诊字段不表示实时可">
            <a:extLst xmlns:a="http://schemas.openxmlformats.org/drawingml/2006/main">
              <a:ext uri="{FF2B5EF4-FFF2-40B4-BE49-F238E27FC236}">
                <a16:creationId xmlns:a16="http://schemas.microsoft.com/office/drawing/2014/main" id="{EBFCBFCC-3F02-4629-A6A9-A71991E7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6153150"/>
            <a:ext cx="6524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目录来源与授权仍需完善；距离为估算，急诊字段不表示实时可用</a:t>
            </a:r>
          </a:p>
        </p:txBody>
      </p:sp>
    </p:spTree>
    <p:extLst>
      <p:ext uri="{BB962C8B-B14F-4D97-AF65-F5344CB8AC3E}">
        <p14:creationId xmlns:p14="http://schemas.microsoft.com/office/powerpoint/2010/main" val="3670819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677703DC-EFD4-4B9A-BC68-BB38D0BC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固定样例回归覆盖安全发布的关键路径">
            <a:extLst xmlns:a="http://schemas.openxmlformats.org/drawingml/2006/main">
              <a:ext uri="{FF2B5EF4-FFF2-40B4-BE49-F238E27FC236}">
                <a16:creationId xmlns:a16="http://schemas.microsoft.com/office/drawing/2014/main" id="{1455B6B5-087A-44DA-9294-A44D3BB5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固定样例回归覆盖安全发布的关键路径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92F7262F-1678-4689-A407-F23FFA29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13">
            <a:extLst xmlns:a="http://schemas.openxmlformats.org/drawingml/2006/main">
              <a:ext uri="{FF2B5EF4-FFF2-40B4-BE49-F238E27FC236}">
                <a16:creationId xmlns:a16="http://schemas.microsoft.com/office/drawing/2014/main" id="{9741BD28-0096-458A-A479-683A012B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142">
            <a:extLst xmlns:a="http://schemas.openxmlformats.org/drawingml/2006/main">
              <a:ext uri="{FF2B5EF4-FFF2-40B4-BE49-F238E27FC236}">
                <a16:creationId xmlns:a16="http://schemas.microsoft.com/office/drawing/2014/main" id="{FD82AFF5-F880-4079-9D16-773D328C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381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142</a:t>
            </a:r>
          </a:p>
        </p:txBody>
      </p:sp>
      <p:sp>
        <p:nvSpPr>
          <p:cNvPr id="6" name="固定工程样例">
            <a:extLst xmlns:a="http://schemas.openxmlformats.org/drawingml/2006/main">
              <a:ext uri="{FF2B5EF4-FFF2-40B4-BE49-F238E27FC236}">
                <a16:creationId xmlns:a16="http://schemas.microsoft.com/office/drawing/2014/main" id="{94882AC6-66C4-4F47-86A0-6E60609D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固定工程样例</a:t>
            </a:r>
          </a:p>
        </p:txBody>
      </p:sp>
      <p:sp>
        <p:nvSpPr>
          <p:cNvPr id="7" name="1.0">
            <a:extLst xmlns:a="http://schemas.openxmlformats.org/drawingml/2006/main">
              <a:ext uri="{FF2B5EF4-FFF2-40B4-BE49-F238E27FC236}">
                <a16:creationId xmlns:a16="http://schemas.microsoft.com/office/drawing/2014/main" id="{76F406B4-A253-4D38-9329-8292213E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1.0</a:t>
            </a:r>
          </a:p>
        </p:txBody>
      </p:sp>
      <p:sp>
        <p:nvSpPr>
          <p:cNvPr id="8" name="红旗召回率（84 个红旗样例）">
            <a:extLst xmlns:a="http://schemas.openxmlformats.org/drawingml/2006/main">
              <a:ext uri="{FF2B5EF4-FFF2-40B4-BE49-F238E27FC236}">
                <a16:creationId xmlns:a16="http://schemas.microsoft.com/office/drawing/2014/main" id="{A40FFF31-5616-4743-82F9-A0759BF1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52750"/>
            <a:ext cx="533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红旗召回率（84 个红旗样例）</a:t>
            </a:r>
          </a:p>
        </p:txBody>
      </p:sp>
      <p:sp>
        <p:nvSpPr>
          <p:cNvPr id="9" name="0">
            <a:extLst xmlns:a="http://schemas.openxmlformats.org/drawingml/2006/main">
              <a:ext uri="{FF2B5EF4-FFF2-40B4-BE49-F238E27FC236}">
                <a16:creationId xmlns:a16="http://schemas.microsoft.com/office/drawing/2014/main" id="{65B047F0-76A7-47F9-A553-14794CF8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4381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" name="急症漏报">
            <a:extLst xmlns:a="http://schemas.openxmlformats.org/drawingml/2006/main">
              <a:ext uri="{FF2B5EF4-FFF2-40B4-BE49-F238E27FC236}">
                <a16:creationId xmlns:a16="http://schemas.microsoft.com/office/drawing/2014/main" id="{FA93D141-BD26-4F51-83E4-F96CC6B3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急症漏报</a:t>
            </a:r>
          </a:p>
        </p:txBody>
      </p:sp>
      <p:sp>
        <p:nvSpPr>
          <p:cNvPr id="11" name="7 / 7">
            <a:extLst xmlns:a="http://schemas.openxmlformats.org/drawingml/2006/main">
              <a:ext uri="{FF2B5EF4-FFF2-40B4-BE49-F238E27FC236}">
                <a16:creationId xmlns:a16="http://schemas.microsoft.com/office/drawing/2014/main" id="{02910986-F1F0-4B13-9C83-9627EFC2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5765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7 / 7</a:t>
            </a:r>
          </a:p>
        </p:txBody>
      </p:sp>
      <p:sp>
        <p:nvSpPr>
          <p:cNvPr id="12" name="信息不足样例匹配">
            <a:extLst xmlns:a="http://schemas.openxmlformats.org/drawingml/2006/main">
              <a:ext uri="{FF2B5EF4-FFF2-40B4-BE49-F238E27FC236}">
                <a16:creationId xmlns:a16="http://schemas.microsoft.com/office/drawing/2014/main" id="{2B4FCE37-B080-4BC6-A9D5-1DF16061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533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信息不足样例匹配</a:t>
            </a:r>
          </a:p>
        </p:txBody>
      </p:sp>
      <p:sp>
        <p:nvSpPr>
          <p:cNvPr id="13" name="2026-10-22 复跑 · Under-triage">
            <a:extLst xmlns:a="http://schemas.openxmlformats.org/drawingml/2006/main">
              <a:ext uri="{FF2B5EF4-FFF2-40B4-BE49-F238E27FC236}">
                <a16:creationId xmlns:a16="http://schemas.microsoft.com/office/drawing/2014/main" id="{9794EF97-6B0C-49F0-9C69-E931E729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rPr>
              <a:t>2026-10-22 复跑 · Under-triage 0 / Over-triage 0 · 仅证明固定样例回归</a:t>
            </a:r>
          </a:p>
        </p:txBody>
      </p:sp>
    </p:spTree>
    <p:extLst>
      <p:ext uri="{BB962C8B-B14F-4D97-AF65-F5344CB8AC3E}">
        <p14:creationId xmlns:p14="http://schemas.microsoft.com/office/powerpoint/2010/main" val="18903463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4B05BC77-F126-4877-B69C-29B70B31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系统创新集中在决策链的可控连接">
            <a:extLst xmlns:a="http://schemas.openxmlformats.org/drawingml/2006/main">
              <a:ext uri="{FF2B5EF4-FFF2-40B4-BE49-F238E27FC236}">
                <a16:creationId xmlns:a16="http://schemas.microsoft.com/office/drawing/2014/main" id="{8DC3C3CE-7E6D-4EF7-910F-88A1BF03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系统创新集中在决策链的可控连接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E099D432-11B8-49D9-8F0F-D1078AAA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14">
            <a:extLst xmlns:a="http://schemas.openxmlformats.org/drawingml/2006/main">
              <a:ext uri="{FF2B5EF4-FFF2-40B4-BE49-F238E27FC236}">
                <a16:creationId xmlns:a16="http://schemas.microsoft.com/office/drawing/2014/main" id="{45039FA6-A6A8-4C30-A7EC-B28BF961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5C2BE187-08BE-4730-AE7C-FC242A73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把安全门放在模型之前">
            <a:extLst xmlns:a="http://schemas.openxmlformats.org/drawingml/2006/main">
              <a:ext uri="{FF2B5EF4-FFF2-40B4-BE49-F238E27FC236}">
                <a16:creationId xmlns:a16="http://schemas.microsoft.com/office/drawing/2014/main" id="{2CF334E2-F23A-47B1-8A28-F4930A84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02882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把安全门放在模型之前</a:t>
            </a:r>
          </a:p>
        </p:txBody>
      </p:sp>
      <p:sp>
        <p:nvSpPr>
          <p:cNvPr id="7" name="风险状态直接控制候选发布与普通资源排序">
            <a:extLst xmlns:a="http://schemas.openxmlformats.org/drawingml/2006/main">
              <a:ext uri="{FF2B5EF4-FFF2-40B4-BE49-F238E27FC236}">
                <a16:creationId xmlns:a16="http://schemas.microsoft.com/office/drawing/2014/main" id="{A1CD4D89-A215-4531-941D-5834444D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5740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风险状态直接控制候选发布与普通资源排序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0029D07C-B690-42C3-B737-74CE4382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围绕就医方向组织智能">
            <a:extLst xmlns:a="http://schemas.openxmlformats.org/drawingml/2006/main">
              <a:ext uri="{FF2B5EF4-FFF2-40B4-BE49-F238E27FC236}">
                <a16:creationId xmlns:a16="http://schemas.microsoft.com/office/drawing/2014/main" id="{540AC8B5-AA83-4DDF-AB24-EC2D3D03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1470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围绕就医方向组织智能</a:t>
            </a:r>
          </a:p>
        </p:txBody>
      </p:sp>
      <p:sp>
        <p:nvSpPr>
          <p:cNvPr id="10" name="研究直接科室路由，保留拒答与输入域限制">
            <a:extLst xmlns:a="http://schemas.openxmlformats.org/drawingml/2006/main">
              <a:ext uri="{FF2B5EF4-FFF2-40B4-BE49-F238E27FC236}">
                <a16:creationId xmlns:a16="http://schemas.microsoft.com/office/drawing/2014/main" id="{F31DD825-73DC-4934-9676-F9E25620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43275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研究直接科室路由，保留拒答与输入域限制</a:t>
            </a:r>
          </a:p>
        </p:txBody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A5037387-7403-47C3-B5E6-6524FB44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把解释延伸到本地行动">
            <a:extLst xmlns:a="http://schemas.openxmlformats.org/drawingml/2006/main">
              <a:ext uri="{FF2B5EF4-FFF2-40B4-BE49-F238E27FC236}">
                <a16:creationId xmlns:a16="http://schemas.microsoft.com/office/drawing/2014/main" id="{AC7B640E-D06B-483F-AECD-028740F9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0057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把解释延伸到本地行动</a:t>
            </a:r>
          </a:p>
        </p:txBody>
      </p:sp>
      <p:sp>
        <p:nvSpPr>
          <p:cNvPr id="13" name="在同一流程连接当前理解、资源目录和地图">
            <a:extLst xmlns:a="http://schemas.openxmlformats.org/drawingml/2006/main">
              <a:ext uri="{FF2B5EF4-FFF2-40B4-BE49-F238E27FC236}">
                <a16:creationId xmlns:a16="http://schemas.microsoft.com/office/drawing/2014/main" id="{56671B3D-0CE0-4096-BE17-603DC5CA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2915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在同一流程连接当前理解、资源目录和地图</a:t>
            </a:r>
          </a:p>
        </p:txBody>
      </p:sp>
    </p:spTree>
    <p:extLst>
      <p:ext uri="{BB962C8B-B14F-4D97-AF65-F5344CB8AC3E}">
        <p14:creationId xmlns:p14="http://schemas.microsoft.com/office/powerpoint/2010/main" val="210774558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常医智导 · AI+医学">
            <a:extLst xmlns:a="http://schemas.openxmlformats.org/drawingml/2006/main">
              <a:ext uri="{FF2B5EF4-FFF2-40B4-BE49-F238E27FC236}">
                <a16:creationId xmlns:a16="http://schemas.microsoft.com/office/drawing/2014/main" id="{16AECD0B-EA49-4C30-BDAC-08315053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常医智导 · AI+医学</a:t>
            </a:r>
          </a:p>
        </p:txBody>
      </p:sp>
      <p:sp>
        <p:nvSpPr>
          <p:cNvPr id="2" name="应用转化先补验证，再扩大覆盖">
            <a:extLst xmlns:a="http://schemas.openxmlformats.org/drawingml/2006/main">
              <a:ext uri="{FF2B5EF4-FFF2-40B4-BE49-F238E27FC236}">
                <a16:creationId xmlns:a16="http://schemas.microsoft.com/office/drawing/2014/main" id="{3DBA6B07-0CA8-47B1-8CAA-DE23CB60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应用转化先补验证，再扩大覆盖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297AB46F-D26E-46E8-AC87-66784258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15">
            <a:extLst xmlns:a="http://schemas.openxmlformats.org/drawingml/2006/main">
              <a:ext uri="{FF2B5EF4-FFF2-40B4-BE49-F238E27FC236}">
                <a16:creationId xmlns:a16="http://schemas.microsoft.com/office/drawing/2014/main" id="{89FE8440-7648-4ADB-BBFD-9242DB1D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7209AD36-E8A1-4688-B91C-3C5E305D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独立中文验证">
            <a:extLst xmlns:a="http://schemas.openxmlformats.org/drawingml/2006/main">
              <a:ext uri="{FF2B5EF4-FFF2-40B4-BE49-F238E27FC236}">
                <a16:creationId xmlns:a16="http://schemas.microsoft.com/office/drawing/2014/main" id="{D31954AC-92D6-43D1-A412-A50DE20D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97167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独立中文验证</a:t>
            </a:r>
          </a:p>
        </p:txBody>
      </p:sp>
      <p:sp>
        <p:nvSpPr>
          <p:cNvPr id="7" name="新增未曝光主诉与科室标签，冻结独立评测">
            <a:extLst xmlns:a="http://schemas.openxmlformats.org/drawingml/2006/main">
              <a:ext uri="{FF2B5EF4-FFF2-40B4-BE49-F238E27FC236}">
                <a16:creationId xmlns:a16="http://schemas.microsoft.com/office/drawing/2014/main" id="{393C3C11-2E72-44C7-96A7-D690E9A9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新增未曝光主诉与科室标签，冻结独立评测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FC08D737-E05B-4176-BC6B-11212ED2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需求与资料核验">
            <a:extLst xmlns:a="http://schemas.openxmlformats.org/drawingml/2006/main">
              <a:ext uri="{FF2B5EF4-FFF2-40B4-BE49-F238E27FC236}">
                <a16:creationId xmlns:a16="http://schemas.microsoft.com/office/drawing/2014/main" id="{188520EA-B8A6-41E6-A9D6-A63B006D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20992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需求与资料核验</a:t>
            </a:r>
          </a:p>
        </p:txBody>
      </p:sp>
      <p:sp>
        <p:nvSpPr>
          <p:cNvPr id="10" name="执行匿名任务研究，完善目录来源和授权">
            <a:extLst xmlns:a="http://schemas.openxmlformats.org/drawingml/2006/main">
              <a:ext uri="{FF2B5EF4-FFF2-40B4-BE49-F238E27FC236}">
                <a16:creationId xmlns:a16="http://schemas.microsoft.com/office/drawing/2014/main" id="{3C209A06-7C7F-4FE7-8352-DD5BD98D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3850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执行匿名任务研究，完善目录来源和授权</a:t>
            </a:r>
          </a:p>
        </p:txBody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6F85D79D-1FA9-4E67-9C6E-08D6F94C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受控场景试用">
            <a:extLst xmlns:a="http://schemas.openxmlformats.org/drawingml/2006/main">
              <a:ext uri="{FF2B5EF4-FFF2-40B4-BE49-F238E27FC236}">
                <a16:creationId xmlns:a16="http://schemas.microsoft.com/office/drawing/2014/main" id="{80118DD3-3984-4F07-BD3E-05311DEE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44817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受控场景试用</a:t>
            </a:r>
          </a:p>
        </p:txBody>
      </p:sp>
      <p:sp>
        <p:nvSpPr>
          <p:cNvPr id="13" name="在专业审核下评估可用性，再考虑新增城市">
            <a:extLst xmlns:a="http://schemas.openxmlformats.org/drawingml/2006/main">
              <a:ext uri="{FF2B5EF4-FFF2-40B4-BE49-F238E27FC236}">
                <a16:creationId xmlns:a16="http://schemas.microsoft.com/office/drawing/2014/main" id="{3B3F7E50-7450-4A84-8DB5-5C9CB114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7675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在专业审核下评估可用性，再考虑新增城市</a:t>
            </a:r>
          </a:p>
        </p:txBody>
      </p:sp>
      <p:sp>
        <p:nvSpPr>
          <p:cNvPr id="14" name="当前：常州原型；尚无临床验证、真实试点效果或成本收益结论">
            <a:extLst xmlns:a="http://schemas.openxmlformats.org/drawingml/2006/main">
              <a:ext uri="{FF2B5EF4-FFF2-40B4-BE49-F238E27FC236}">
                <a16:creationId xmlns:a16="http://schemas.microsoft.com/office/drawing/2014/main" id="{EDEA4DF3-ACB1-4AB6-86A0-83077117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rPr>
              <a:t>当前：常州原型；尚无临床验证、真实试点效果或成本收益结论</a:t>
            </a:r>
          </a:p>
        </p:txBody>
      </p:sp>
    </p:spTree>
    <p:extLst>
      <p:ext uri="{BB962C8B-B14F-4D97-AF65-F5344CB8AC3E}">
        <p14:creationId xmlns:p14="http://schemas.microsoft.com/office/powerpoint/2010/main" val="12544395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附录 A · 与 Round4 固定配置分别报告">
            <a:extLst xmlns:a="http://schemas.openxmlformats.org/drawingml/2006/main">
              <a:ext uri="{FF2B5EF4-FFF2-40B4-BE49-F238E27FC236}">
                <a16:creationId xmlns:a16="http://schemas.microsoft.com/office/drawing/2014/main" id="{47D9ED58-A359-4E75-BE93-051E837E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附录 A · 与 Round4 固定配置分别报告</a:t>
            </a:r>
          </a:p>
        </p:txBody>
      </p:sp>
      <p:sp>
        <p:nvSpPr>
          <p:cNvPr id="2" name="研究扩展：内部高分仍受输入域约束">
            <a:extLst xmlns:a="http://schemas.openxmlformats.org/drawingml/2006/main">
              <a:ext uri="{FF2B5EF4-FFF2-40B4-BE49-F238E27FC236}">
                <a16:creationId xmlns:a16="http://schemas.microsoft.com/office/drawing/2014/main" id="{1E9C0C5D-5FE1-4871-9E25-9E5B7634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研究扩展：内部高分仍受输入域约束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AC3BB803-0F97-40D5-8769-1EF2B7C5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16">
            <a:extLst xmlns:a="http://schemas.openxmlformats.org/drawingml/2006/main">
              <a:ext uri="{FF2B5EF4-FFF2-40B4-BE49-F238E27FC236}">
                <a16:creationId xmlns:a16="http://schemas.microsoft.com/office/drawing/2014/main" id="{9B97AA92-2D26-4255-9E99-2023CD28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5" name="94.25%">
            <a:extLst xmlns:a="http://schemas.openxmlformats.org/drawingml/2006/main">
              <a:ext uri="{FF2B5EF4-FFF2-40B4-BE49-F238E27FC236}">
                <a16:creationId xmlns:a16="http://schemas.microsoft.com/office/drawing/2014/main" id="{266AD3DF-095B-4042-AD80-6C074A9D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94.25%</a:t>
            </a:r>
          </a:p>
        </p:txBody>
      </p:sp>
      <p:sp>
        <p:nvSpPr>
          <p:cNvPr id="6" name="± 2.00pp，5 seeds 内部 Acc">
            <a:extLst xmlns:a="http://schemas.openxmlformats.org/drawingml/2006/main">
              <a:ext uri="{FF2B5EF4-FFF2-40B4-BE49-F238E27FC236}">
                <a16:creationId xmlns:a16="http://schemas.microsoft.com/office/drawing/2014/main" id="{A67CCCEE-88A4-41DB-A716-E5D8DB63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± 2.00pp，5 seeds 内部 Acc</a:t>
            </a:r>
          </a:p>
        </p:txBody>
      </p:sp>
      <p:sp>
        <p:nvSpPr>
          <p:cNvPr id="7" name="56.11%">
            <a:extLst xmlns:a="http://schemas.openxmlformats.org/drawingml/2006/main">
              <a:ext uri="{FF2B5EF4-FFF2-40B4-BE49-F238E27FC236}">
                <a16:creationId xmlns:a16="http://schemas.microsoft.com/office/drawing/2014/main" id="{7C23ACD3-DAAA-45E8-AD11-16E17BEFA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90725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56.11%</a:t>
            </a:r>
          </a:p>
        </p:txBody>
      </p:sp>
      <p:sp>
        <p:nvSpPr>
          <p:cNvPr id="8" name="结构化 → 另一来源文本 Acc">
            <a:extLst xmlns:a="http://schemas.openxmlformats.org/drawingml/2006/main">
              <a:ext uri="{FF2B5EF4-FFF2-40B4-BE49-F238E27FC236}">
                <a16:creationId xmlns:a16="http://schemas.microsoft.com/office/drawing/2014/main" id="{15C06600-A6F7-411A-BE94-4466FE6E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43225"/>
            <a:ext cx="523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结构化 → 另一来源文本 Acc</a:t>
            </a:r>
          </a:p>
        </p:txBody>
      </p:sp>
      <p:sp>
        <p:nvSpPr>
          <p:cNvPr id="9" name="标准优化器 + 特征尺度 + 训练内嵌套选择&#10;公开混合文">
            <a:extLst xmlns:a="http://schemas.openxmlformats.org/drawingml/2006/main">
              <a:ext uri="{FF2B5EF4-FFF2-40B4-BE49-F238E27FC236}">
                <a16:creationId xmlns:a16="http://schemas.microsoft.com/office/drawing/2014/main" id="{38DD248B-6458-4715-9593-8EAE87E3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085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标准优化器 + 特征尺度 + 训练内嵌套选择</a:t>
            </a:r>
          </a:p>
          <a:p xmlns:a="http://schemas.openxmlformats.org/drawingml/2006/main">
            <a: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公开混合文本 1,289 行；非临床语料</a:t>
            </a:r>
          </a:p>
          <a:p xmlns:a="http://schemas.openxmlformats.org/drawingml/2006/main">
            <a:pPr>
              <a:def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Macro-F1 94.65%  /  温度校准 ECE 0.0321</a:t>
            </a:r>
          </a:p>
        </p:txBody>
      </p:sp>
      <p:sp>
        <p:nvSpPr>
          <p:cNvPr id="10" name="模型状态：RESEARCH_ONLY；不能将 94.25">
            <a:extLst xmlns:a="http://schemas.openxmlformats.org/drawingml/2006/main">
              <a:ext uri="{FF2B5EF4-FFF2-40B4-BE49-F238E27FC236}">
                <a16:creationId xmlns:a16="http://schemas.microsoft.com/office/drawing/2014/main" id="{5F01232A-6C53-4742-82BB-AC0A5443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rPr>
              <a:t>模型状态：RESEARCH_ONLY；不能将 94.25% 称为中文临床分诊准确率</a:t>
            </a:r>
          </a:p>
        </p:txBody>
      </p:sp>
    </p:spTree>
    <p:extLst>
      <p:ext uri="{BB962C8B-B14F-4D97-AF65-F5344CB8AC3E}">
        <p14:creationId xmlns:p14="http://schemas.microsoft.com/office/powerpoint/2010/main" val="20526920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附录 B · 评测限制">
            <a:extLst xmlns:a="http://schemas.openxmlformats.org/drawingml/2006/main">
              <a:ext uri="{FF2B5EF4-FFF2-40B4-BE49-F238E27FC236}">
                <a16:creationId xmlns:a16="http://schemas.microsoft.com/office/drawing/2014/main" id="{82B956E5-6A88-4C88-857C-0DA4C801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附录 B · 评测限制</a:t>
            </a:r>
          </a:p>
        </p:txBody>
      </p:sp>
      <p:sp>
        <p:nvSpPr>
          <p:cNvPr id="2" name="保留负结果，避免把研究包装成验证">
            <a:extLst xmlns:a="http://schemas.openxmlformats.org/drawingml/2006/main">
              <a:ext uri="{FF2B5EF4-FFF2-40B4-BE49-F238E27FC236}">
                <a16:creationId xmlns:a16="http://schemas.microsoft.com/office/drawing/2014/main" id="{B2067C54-F694-4166-B9BE-58F9E9BD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保留负结果，避免把研究包装成验证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5F43E1B5-1CD9-4668-BAA7-B64F354B6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17">
            <a:extLst xmlns:a="http://schemas.openxmlformats.org/drawingml/2006/main">
              <a:ext uri="{FF2B5EF4-FFF2-40B4-BE49-F238E27FC236}">
                <a16:creationId xmlns:a16="http://schemas.microsoft.com/office/drawing/2014/main" id="{FD11E142-684F-4CFB-9850-F18287C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A6089196-C7BF-40B2-94B4-31983A67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覆盖目标仍未达成">
            <a:extLst xmlns:a="http://schemas.openxmlformats.org/drawingml/2006/main">
              <a:ext uri="{FF2B5EF4-FFF2-40B4-BE49-F238E27FC236}">
                <a16:creationId xmlns:a16="http://schemas.microsoft.com/office/drawing/2014/main" id="{655F8B45-861C-4DA7-A9C7-88495A99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96215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覆盖目标仍未达成</a:t>
            </a:r>
          </a:p>
        </p:txBody>
      </p:sp>
      <p:sp>
        <p:nvSpPr>
          <p:cNvPr id="7" name="80% 目标实际覆盖 76.06%，不按目标数报告">
            <a:extLst xmlns:a="http://schemas.openxmlformats.org/drawingml/2006/main">
              <a:ext uri="{FF2B5EF4-FFF2-40B4-BE49-F238E27FC236}">
                <a16:creationId xmlns:a16="http://schemas.microsoft.com/office/drawing/2014/main" id="{2C06101C-B81D-4815-866C-CFC3A87F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90725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80% 目标实际覆盖 76.06%，不按目标数报告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4A706E97-3F02-476A-90F8-6F405BC4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追问优势尚未证实">
            <a:extLst xmlns:a="http://schemas.openxmlformats.org/drawingml/2006/main">
              <a:ext uri="{FF2B5EF4-FFF2-40B4-BE49-F238E27FC236}">
                <a16:creationId xmlns:a16="http://schemas.microsoft.com/office/drawing/2014/main" id="{824D5A14-62C1-440A-953D-68B9A4ED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13372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追问优势尚未证实</a:t>
            </a:r>
          </a:p>
        </p:txBody>
      </p:sp>
      <p:sp>
        <p:nvSpPr>
          <p:cNvPr id="10" name="模拟三问：IG 34.35%，高频 33.91%，差距不">
            <a:extLst xmlns:a="http://schemas.openxmlformats.org/drawingml/2006/main">
              <a:ext uri="{FF2B5EF4-FFF2-40B4-BE49-F238E27FC236}">
                <a16:creationId xmlns:a16="http://schemas.microsoft.com/office/drawing/2014/main" id="{6C55D8B2-DF66-49E5-8BDB-B190657D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6230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模拟三问：IG 34.35%，高频 33.91%，差距不足 0.5pp</a:t>
            </a:r>
          </a:p>
        </p:txBody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8BBD94B8-A60E-42A4-A9BC-05219D6A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中文与全类别证据不足">
            <a:extLst xmlns:a="http://schemas.openxmlformats.org/drawingml/2006/main">
              <a:ext uri="{FF2B5EF4-FFF2-40B4-BE49-F238E27FC236}">
                <a16:creationId xmlns:a16="http://schemas.microsoft.com/office/drawing/2014/main" id="{97F2C75B-F0AD-4A38-96FF-578268AB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30530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中文与全类别证据不足</a:t>
            </a:r>
          </a:p>
        </p:txBody>
      </p:sp>
      <p:sp>
        <p:nvSpPr>
          <p:cNvPr id="13" name="病种测试覆盖有限；临床输入域与标签仍需独立验证">
            <a:extLst xmlns:a="http://schemas.openxmlformats.org/drawingml/2006/main">
              <a:ext uri="{FF2B5EF4-FFF2-40B4-BE49-F238E27FC236}">
                <a16:creationId xmlns:a16="http://schemas.microsoft.com/office/drawing/2014/main" id="{E3842D88-8C93-4AFE-8898-C0C35BA3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33875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病种测试覆盖有限；临床输入域与标签仍需独立验证</a:t>
            </a:r>
          </a:p>
        </p:txBody>
      </p:sp>
      <p:sp>
        <p:nvSpPr>
          <p:cNvPr id="14" name="所有对外模型指标均是离线研究证据；固定 Safety 样">
            <a:extLst xmlns:a="http://schemas.openxmlformats.org/drawingml/2006/main">
              <a:ext uri="{FF2B5EF4-FFF2-40B4-BE49-F238E27FC236}">
                <a16:creationId xmlns:a16="http://schemas.microsoft.com/office/drawing/2014/main" id="{1B37C324-1723-4A7A-8E7B-8753D6A6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B33342"/>
                </a:solidFill>
                <a:latin typeface="Microsoft YaHei"/>
                <a:ea typeface="Microsoft YaHei"/>
                <a:cs typeface="Microsoft YaHei"/>
              </a:rPr>
              <a:t>所有对外模型指标均是离线研究证据；固定 Safety 样例属于工程回归</a:t>
            </a:r>
          </a:p>
        </p:txBody>
      </p:sp>
    </p:spTree>
    <p:extLst>
      <p:ext uri="{BB962C8B-B14F-4D97-AF65-F5344CB8AC3E}">
        <p14:creationId xmlns:p14="http://schemas.microsoft.com/office/powerpoint/2010/main" val="45883009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8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附录 C · 资料来源">
            <a:extLst xmlns:a="http://schemas.openxmlformats.org/drawingml/2006/main">
              <a:ext uri="{FF2B5EF4-FFF2-40B4-BE49-F238E27FC236}">
                <a16:creationId xmlns:a16="http://schemas.microsoft.com/office/drawing/2014/main" id="{E0D5386D-F584-4996-9E11-FAE9ABDF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附录 C · 资料来源</a:t>
            </a:r>
          </a:p>
        </p:txBody>
      </p:sp>
      <p:sp>
        <p:nvSpPr>
          <p:cNvPr id="2" name="证据与使用范围">
            <a:extLst xmlns:a="http://schemas.openxmlformats.org/drawingml/2006/main">
              <a:ext uri="{FF2B5EF4-FFF2-40B4-BE49-F238E27FC236}">
                <a16:creationId xmlns:a16="http://schemas.microsoft.com/office/drawing/2014/main" id="{29122C53-2ADA-417C-946B-F9090F45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证据与使用范围</a:t>
            </a:r>
          </a:p>
        </p:txBody>
      </p:sp>
      <p:sp>
        <p:nvSpPr>
          <p:cNvPr id="3" name="辅助就医信息 · 不替代医生诊断、急救或处方">
            <a:extLst xmlns:a="http://schemas.openxmlformats.org/drawingml/2006/main">
              <a:ext uri="{FF2B5EF4-FFF2-40B4-BE49-F238E27FC236}">
                <a16:creationId xmlns:a16="http://schemas.microsoft.com/office/drawing/2014/main" id="{384C1BFE-6DE8-4052-A8E2-BA65B04A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辅助就医信息 · 不替代医生诊断、急救或处方</a:t>
            </a:r>
          </a:p>
        </p:txBody>
      </p:sp>
      <p:sp>
        <p:nvSpPr>
          <p:cNvPr id="4" name="18">
            <a:extLst xmlns:a="http://schemas.openxmlformats.org/drawingml/2006/main">
              <a:ext uri="{FF2B5EF4-FFF2-40B4-BE49-F238E27FC236}">
                <a16:creationId xmlns:a16="http://schemas.microsoft.com/office/drawing/2014/main" id="{A6BE57FB-FAC8-455E-81F4-62E54CFD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5" name="竞赛规范">
            <a:extLst xmlns:a="http://schemas.openxmlformats.org/drawingml/2006/main">
              <a:ext uri="{FF2B5EF4-FFF2-40B4-BE49-F238E27FC236}">
                <a16:creationId xmlns:a16="http://schemas.microsoft.com/office/drawing/2014/main" id="{D3ECCFC5-2CDC-4243-AD92-5DD0791B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竞赛规范</a:t>
            </a:r>
          </a:p>
        </p:txBody>
      </p:sp>
      <p:sp>
        <p:nvSpPr>
          <p:cNvPr id="6" name="《AIC·AI+医学竞赛规则及作品提交要求》&#10;本地存档 ">
            <a:extLst xmlns:a="http://schemas.openxmlformats.org/drawingml/2006/main">
              <a:ext uri="{FF2B5EF4-FFF2-40B4-BE49-F238E27FC236}">
                <a16:creationId xmlns:a16="http://schemas.microsoft.com/office/drawing/2014/main" id="{A932CC1A-53F0-49E3-80D1-3EE91FA6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09775"/>
            <a:ext cx="7905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《AIC·AI+医学竞赛规则及作品提交要求》</a:t>
            </a:r>
          </a:p>
          <a:p xmlns:a="http://schemas.openxmlformats.org/drawingml/2006/main">
            <a: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本地存档 official-rules.pdf（2 页）</a:t>
            </a:r>
          </a:p>
        </p:txBody>
      </p:sp>
      <p:sp>
        <p:nvSpPr>
          <p:cNvPr id="7" name="算法证据">
            <a:extLst xmlns:a="http://schemas.openxmlformats.org/drawingml/2006/main">
              <a:ext uri="{FF2B5EF4-FFF2-40B4-BE49-F238E27FC236}">
                <a16:creationId xmlns:a16="http://schemas.microsoft.com/office/drawing/2014/main" id="{5382C77C-3FAC-44AD-A34C-1E36B104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算法证据</a:t>
            </a:r>
          </a:p>
        </p:txBody>
      </p:sp>
      <p:sp>
        <p:nvSpPr>
          <p:cNvPr id="8" name="Round4 报告、表示消融与选择性拒答结果&#10;Core ">
            <a:extLst xmlns:a="http://schemas.openxmlformats.org/drawingml/2006/main">
              <a:ext uri="{FF2B5EF4-FFF2-40B4-BE49-F238E27FC236}">
                <a16:creationId xmlns:a16="http://schemas.microsoft.com/office/drawing/2014/main" id="{DA6FCFA6-1409-44A3-BF27-26872AFD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86125"/>
            <a:ext cx="7905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Round4 报告、表示消融与选择性拒答结果</a:t>
            </a:r>
          </a:p>
          <a:p xmlns:a="http://schemas.openxmlformats.org/drawingml/2006/main">
            <a: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Core Exploration 完整主流程汇总（分开引用）</a:t>
            </a:r>
          </a:p>
        </p:txBody>
      </p:sp>
      <p:sp>
        <p:nvSpPr>
          <p:cNvPr id="9" name="系统证据">
            <a:extLst xmlns:a="http://schemas.openxmlformats.org/drawingml/2006/main">
              <a:ext uri="{FF2B5EF4-FFF2-40B4-BE49-F238E27FC236}">
                <a16:creationId xmlns:a16="http://schemas.microsoft.com/office/drawing/2014/main" id="{C8D5890E-A826-4A4C-876E-89FA5D83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07F7A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10" name="当前源码 Safety 固定样例复跑&#10;当前网站真实截图；">
            <a:extLst xmlns:a="http://schemas.openxmlformats.org/drawingml/2006/main">
              <a:ext uri="{FF2B5EF4-FFF2-40B4-BE49-F238E27FC236}">
                <a16:creationId xmlns:a16="http://schemas.microsoft.com/office/drawing/2014/main" id="{3B2B7141-008E-4693-AC71-C6532AEA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562475"/>
            <a:ext cx="7905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当前源码 Safety 固定样例复跑</a:t>
            </a:r>
          </a:p>
          <a:p xmlns:a="http://schemas.openxmlformats.org/drawingml/2006/main">
            <a:pPr>
              <a:def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2D32"/>
                </a:solidFill>
                <a:latin typeface="Microsoft YaHei"/>
                <a:ea typeface="Microsoft YaHei"/>
                <a:cs typeface="Microsoft YaHei"/>
              </a:rPr>
              <a:t>当前网站真实截图；所有主诉示例均为合成</a:t>
            </a:r>
          </a:p>
        </p:txBody>
      </p:sp>
      <p:sp>
        <p:nvSpPr>
          <p:cNvPr id="11" name="不包含真实患者信息、学校标识、指导教师、合作或临床效果声">
            <a:extLst xmlns:a="http://schemas.openxmlformats.org/drawingml/2006/main">
              <a:ext uri="{FF2B5EF4-FFF2-40B4-BE49-F238E27FC236}">
                <a16:creationId xmlns:a16="http://schemas.microsoft.com/office/drawing/2014/main" id="{C50484D7-6686-430B-800F-D379836B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27075"/>
                </a:solidFill>
                <a:latin typeface="Microsoft YaHei"/>
                <a:ea typeface="Microsoft YaHei"/>
                <a:cs typeface="Microsoft YaHei"/>
              </a:rPr>
              <a:t>不包含真实患者信息、学校标识、指导教师、合作或临床效果声明</a:t>
            </a:r>
          </a:p>
        </p:txBody>
      </p:sp>
    </p:spTree>
    <p:extLst>
      <p:ext uri="{BB962C8B-B14F-4D97-AF65-F5344CB8AC3E}">
        <p14:creationId xmlns:p14="http://schemas.microsoft.com/office/powerpoint/2010/main" val="20480329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2026-10-22T02:59:17.7750000Z</dcterms:created>
  <dcterms:modified xsi:type="dcterms:W3CDTF">2026-10-22T02:59:17.7750000Z</dcterms:modified>
</coreProperties>
</file>